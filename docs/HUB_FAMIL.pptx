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autoCompressPictures="0">
  <p:sldMasterIdLst>
    <p:sldMasterId id="2147483650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20139" autoAdjust="0"/>
    <p:restoredTop sz="94610"/>
  </p:normalViewPr>
  <p:slideViewPr>
    <p:cSldViewPr snapToGrid="0" snapToObjects="1">
      <p:cViewPr>
        <p:scale>
          <a:sx n="164" d="100"/>
          <a:sy n="164" d="100"/>
        </p:scale>
        <p:origin x="336" y="114"/>
      </p:cViewPr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slide" Target="slides/slide15.xml"  /><Relationship Id="rId18" Type="http://schemas.openxmlformats.org/officeDocument/2006/relationships/slide" Target="slides/slide16.xml"  /><Relationship Id="rId19" Type="http://schemas.openxmlformats.org/officeDocument/2006/relationships/slide" Target="slides/slide17.xml"  /><Relationship Id="rId2" Type="http://schemas.openxmlformats.org/officeDocument/2006/relationships/notesMaster" Target="notesMasters/notesMaster1.xml"  /><Relationship Id="rId20" Type="http://schemas.openxmlformats.org/officeDocument/2006/relationships/presProps" Target="presProps.xml"  /><Relationship Id="rId21" Type="http://schemas.openxmlformats.org/officeDocument/2006/relationships/viewProps" Target="viewProps.xml"  /><Relationship Id="rId22" Type="http://schemas.openxmlformats.org/officeDocument/2006/relationships/theme" Target="theme/theme1.xml"  /><Relationship Id="rId23" Type="http://schemas.openxmlformats.org/officeDocument/2006/relationships/tableStyles" Target="tableStyles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3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5.xml"  /><Relationship Id="rId2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slide" Target="../slides/slide6.xml"  /><Relationship Id="rId2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slide" Target="../slides/slide7.xml"  /><Relationship Id="rId2" Type="http://schemas.openxmlformats.org/officeDocument/2006/relationships/notesMaster" Target="../notesMasters/notesMaster1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slide" Target="../slides/slide8.xml"  /><Relationship Id="rId2" Type="http://schemas.openxmlformats.org/officeDocument/2006/relationships/notesMaster" Target="../notesMasters/notesMaster1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slide" Target="../slides/slide9.xml"  /><Relationship Id="rId2" Type="http://schemas.openxmlformats.org/officeDocument/2006/relationships/notesMaster" Target="../notesMasters/notesMaster1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slide" Target="../slides/slide10.xml"  /><Relationship Id="rId2" Type="http://schemas.openxmlformats.org/officeDocument/2006/relationships/notesMaster" Target="../notesMasters/notesMaster1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slide" Target="../slides/slide12.xml"  /><Relationship Id="rId2" Type="http://schemas.openxmlformats.org/officeDocument/2006/relationships/notesMaster" Target="../notesMasters/notesMaster1.xml"  /></Relationships>
</file>

<file path=ppt/notesSlides/_rels/notesSlide10.xml.rels><?xml version="1.0" encoding="UTF-8" standalone="yes" ?><Relationships xmlns="http://schemas.openxmlformats.org/package/2006/relationships"><Relationship Id="rId1" Type="http://schemas.openxmlformats.org/officeDocument/2006/relationships/slide" Target="../slides/slide13.xml"  /><Relationship Id="rId2" Type="http://schemas.openxmlformats.org/officeDocument/2006/relationships/notesMaster" Target="../notesMasters/notesMaster1.xml"  /></Relationships>
</file>

<file path=ppt/notesSlides/_rels/notesSlide1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4.xml"  /><Relationship Id="rId2" Type="http://schemas.openxmlformats.org/officeDocument/2006/relationships/notesMaster" Target="../notesMasters/notesMaster1.xml"  /></Relationships>
</file>

<file path=ppt/notesSlides/_rels/notesSlide12.xml.rels><?xml version="1.0" encoding="UTF-8" standalone="yes" ?><Relationships xmlns="http://schemas.openxmlformats.org/package/2006/relationships"><Relationship Id="rId1" Type="http://schemas.openxmlformats.org/officeDocument/2006/relationships/slide" Target="../slides/slide15.xml"  /><Relationship Id="rId2" Type="http://schemas.openxmlformats.org/officeDocument/2006/relationships/notesMaster" Target="../notesMasters/notesMaster1.xml"  /></Relationships>
</file>

<file path=ppt/notesSlides/_rels/notesSlide13.xml.rels><?xml version="1.0" encoding="UTF-8" standalone="yes" ?><Relationships xmlns="http://schemas.openxmlformats.org/package/2006/relationships"><Relationship Id="rId1" Type="http://schemas.openxmlformats.org/officeDocument/2006/relationships/slide" Target="../slides/slide16.xml"  /><Relationship Id="rId2" Type="http://schemas.openxmlformats.org/officeDocument/2006/relationships/notesMaster" Target="../notesMasters/notesMaster1.xml"  /></Relationships>
</file>

<file path=ppt/notesSlides/_rels/notesSlide14.xml.rels><?xml version="1.0" encoding="UTF-8" standalone="yes" ?><Relationships xmlns="http://schemas.openxmlformats.org/package/2006/relationships"><Relationship Id="rId1" Type="http://schemas.openxmlformats.org/officeDocument/2006/relationships/slide" Target="../slides/slide17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latinLnBrk="1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latinLnBrk="1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latinLnBrk="1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latinLnBrk="1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latinLnBrk="1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latinLnBrk="1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latinLnBrk="1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latinLnBrk="1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latinLnBrk="1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latinLnBrk="1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latinLnBrk="1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latinLnBrk="1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latinLnBrk="1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latinLnBrk="1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theme" Target="../theme/theme1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.xml"  /><Relationship Id="rId3" Type="http://schemas.openxmlformats.org/officeDocument/2006/relationships/image" Target="../media/image1.png"  /><Relationship Id="rId4" Type="http://schemas.openxmlformats.org/officeDocument/2006/relationships/image" Target="../media/image2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2.png"  /><Relationship Id="rId3" Type="http://schemas.openxmlformats.org/officeDocument/2006/relationships/image" Target="../media/image1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2.xml"  /><Relationship Id="rId3" Type="http://schemas.openxmlformats.org/officeDocument/2006/relationships/image" Target="../media/image3.png"  /><Relationship Id="rId4" Type="http://schemas.openxmlformats.org/officeDocument/2006/relationships/image" Target="../media/image4.png"  /><Relationship Id="rId5" Type="http://schemas.openxmlformats.org/officeDocument/2006/relationships/image" Target="../media/image5.png"  /><Relationship Id="rId6" Type="http://schemas.openxmlformats.org/officeDocument/2006/relationships/image" Target="../media/image6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7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3.xml"  /><Relationship Id="rId3" Type="http://schemas.openxmlformats.org/officeDocument/2006/relationships/image" Target="../media/image3.png"  /><Relationship Id="rId4" Type="http://schemas.openxmlformats.org/officeDocument/2006/relationships/image" Target="../media/image4.png"  /><Relationship Id="rId5" Type="http://schemas.openxmlformats.org/officeDocument/2006/relationships/image" Target="../media/image5.png"  /><Relationship Id="rId6" Type="http://schemas.openxmlformats.org/officeDocument/2006/relationships/image" Target="../media/image6.png"  /><Relationship Id="rId7" Type="http://schemas.openxmlformats.org/officeDocument/2006/relationships/image" Target="../media/image8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4.xml"  /><Relationship Id="rId3" Type="http://schemas.openxmlformats.org/officeDocument/2006/relationships/image" Target="../media/image3.png"  /><Relationship Id="rId4" Type="http://schemas.openxmlformats.org/officeDocument/2006/relationships/image" Target="../media/image4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5.xml"  /><Relationship Id="rId3" Type="http://schemas.openxmlformats.org/officeDocument/2006/relationships/image" Target="../media/image9.png"  /><Relationship Id="rId4" Type="http://schemas.openxmlformats.org/officeDocument/2006/relationships/image" Target="../media/image10.png"  /><Relationship Id="rId5" Type="http://schemas.openxmlformats.org/officeDocument/2006/relationships/image" Target="../media/image11.png"  /><Relationship Id="rId6" Type="http://schemas.openxmlformats.org/officeDocument/2006/relationships/image" Target="../media/image12.png"  /><Relationship Id="rId7" Type="http://schemas.openxmlformats.org/officeDocument/2006/relationships/image" Target="../media/image13.png"  /><Relationship Id="rId8" Type="http://schemas.openxmlformats.org/officeDocument/2006/relationships/image" Target="../media/image14.png"  /><Relationship Id="rId9" Type="http://schemas.openxmlformats.org/officeDocument/2006/relationships/image" Target="../media/image4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image" Target="../media/image15.png"  /><Relationship Id="rId2" Type="http://schemas.openxmlformats.org/officeDocument/2006/relationships/notesSlide" Target="../notesSlides/notesSlide6.xml"  /><Relationship Id="rId3" Type="http://schemas.openxmlformats.org/officeDocument/2006/relationships/image" Target="../media/image9.png"  /><Relationship Id="rId4" Type="http://schemas.openxmlformats.org/officeDocument/2006/relationships/image" Target="../media/image10.png"  /><Relationship Id="rId5" Type="http://schemas.openxmlformats.org/officeDocument/2006/relationships/image" Target="../media/image11.png"  /><Relationship Id="rId6" Type="http://schemas.openxmlformats.org/officeDocument/2006/relationships/image" Target="../media/image12.png"  /><Relationship Id="rId7" Type="http://schemas.openxmlformats.org/officeDocument/2006/relationships/image" Target="../media/image13.png"  /><Relationship Id="rId8" Type="http://schemas.openxmlformats.org/officeDocument/2006/relationships/image" Target="../media/image14.png"  /><Relationship Id="rId9" Type="http://schemas.openxmlformats.org/officeDocument/2006/relationships/image" Target="../media/image4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7.xml"  /><Relationship Id="rId3" Type="http://schemas.openxmlformats.org/officeDocument/2006/relationships/image" Target="../media/image16.png"  /><Relationship Id="rId4" Type="http://schemas.openxmlformats.org/officeDocument/2006/relationships/image" Target="../media/image17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8.xml"  /><Relationship Id="rId3" Type="http://schemas.openxmlformats.org/officeDocument/2006/relationships/image" Target="../media/image18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9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9.xml"  /><Relationship Id="rId3" Type="http://schemas.openxmlformats.org/officeDocument/2006/relationships/image" Target="../media/image3.png"  /><Relationship Id="rId4" Type="http://schemas.openxmlformats.org/officeDocument/2006/relationships/image" Target="../media/image20.png"  /><Relationship Id="rId5" Type="http://schemas.openxmlformats.org/officeDocument/2006/relationships/image" Target="../media/image9.png"  /><Relationship Id="rId6" Type="http://schemas.openxmlformats.org/officeDocument/2006/relationships/image" Target="../media/image18.png"  /><Relationship Id="rId7" Type="http://schemas.openxmlformats.org/officeDocument/2006/relationships/image" Target="../media/image1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0.xml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1.xml"  /><Relationship Id="rId3" Type="http://schemas.openxmlformats.org/officeDocument/2006/relationships/image" Target="../media/image21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2.xml"  /><Relationship Id="rId3" Type="http://schemas.openxmlformats.org/officeDocument/2006/relationships/image" Target="../media/image9.png"  /><Relationship Id="rId4" Type="http://schemas.openxmlformats.org/officeDocument/2006/relationships/image" Target="../media/image12.png"  /><Relationship Id="rId5" Type="http://schemas.openxmlformats.org/officeDocument/2006/relationships/image" Target="../media/image20.png"  /><Relationship Id="rId6" Type="http://schemas.openxmlformats.org/officeDocument/2006/relationships/image" Target="../media/image22.pn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3.xml"  /><Relationship Id="rId3" Type="http://schemas.openxmlformats.org/officeDocument/2006/relationships/image" Target="../media/image2.png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4.xml" 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9DAB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830286" cy="51435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4" name="Text 1"/>
          <p:cNvSpPr/>
          <p:nvPr/>
        </p:nvSpPr>
        <p:spPr>
          <a:xfrm>
            <a:off x="3713480" y="2035253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HUB FAMILY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3749040" y="979351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자녀의 </a:t>
            </a:r>
            <a:r>
              <a:rPr lang="en-US" sz="2400" b="1" dirty="0" err="1">
                <a:solidFill>
                  <a:schemeClr val="accent6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불안을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b="1" dirty="0" err="1">
                <a:solidFill>
                  <a:schemeClr val="accent6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줄여주</a:t>
            </a:r>
            <a:r>
              <a:rPr lang="ko-KR" altLang="en-US" sz="24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는</a:t>
            </a:r>
            <a:endParaRPr lang="en-US" sz="2400" b="1" dirty="0">
              <a:solidFill>
                <a:schemeClr val="accent6">
                  <a:lumMod val="75000"/>
                </a:schemeClr>
              </a:solidFill>
            </a:endParaRPr>
          </a:p>
          <a:p>
            <a:pPr marL="0" indent="0" algn="l">
              <a:buNone/>
            </a:pP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가족 안심 케어 플랫폼</a:t>
            </a:r>
            <a:endParaRPr lang="en-US" sz="24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6" name="Shape 3"/>
          <p:cNvSpPr/>
          <p:nvPr/>
        </p:nvSpPr>
        <p:spPr>
          <a:xfrm>
            <a:off x="3640183" y="2883989"/>
            <a:ext cx="4114800" cy="36576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7" name="Text 4"/>
          <p:cNvSpPr/>
          <p:nvPr/>
        </p:nvSpPr>
        <p:spPr>
          <a:xfrm>
            <a:off x="3749040" y="324612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부모의</a:t>
            </a:r>
            <a:r>
              <a:rPr lang="en-US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하루를</a:t>
            </a:r>
            <a:r>
              <a:rPr lang="en-US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감시하는</a:t>
            </a:r>
            <a:r>
              <a:rPr lang="en-US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것이</a:t>
            </a:r>
            <a:r>
              <a:rPr lang="en-US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아니라</a:t>
            </a:r>
            <a:r>
              <a:rPr lang="en-US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endParaRPr lang="en-US" b="1" dirty="0">
              <a:solidFill>
                <a:schemeClr val="bg1"/>
              </a:solidFill>
            </a:endParaRPr>
          </a:p>
          <a:p>
            <a:pPr marL="0" indent="0" algn="l">
              <a:buNone/>
            </a:pPr>
            <a:r>
              <a:rPr lang="en-US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가족에게 안심을 전달하는 서비스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8" name="Shape 5"/>
          <p:cNvSpPr/>
          <p:nvPr/>
        </p:nvSpPr>
        <p:spPr>
          <a:xfrm>
            <a:off x="3749040" y="4572000"/>
            <a:ext cx="1828800" cy="38404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/>
        </p:spPr>
      </p:sp>
      <p:sp>
        <p:nvSpPr>
          <p:cNvPr id="9" name="Text 6"/>
          <p:cNvSpPr/>
          <p:nvPr/>
        </p:nvSpPr>
        <p:spPr>
          <a:xfrm>
            <a:off x="3749040" y="45720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 err="1">
                <a:solidFill>
                  <a:srgbClr val="FF0000"/>
                </a:solidFill>
              </a:rPr>
              <a:t>팀명：ＭＥＤＩＣ</a:t>
            </a:r>
            <a:endParaRPr lang="en-US" sz="1100" b="1" dirty="0">
              <a:solidFill>
                <a:srgbClr val="FF0000"/>
              </a:solidFill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B4409336-E708-42B2-A0EA-4E828C2D15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668" y="2640694"/>
            <a:ext cx="2352950" cy="2395157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5DC56DAB-2DF7-41B0-87B8-2BD110097E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668" y="153009"/>
            <a:ext cx="2361387" cy="238003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9DAB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AD3FE311-429E-4169-B4CE-64BF3B8E400B}"/>
              </a:ext>
            </a:extLst>
          </p:cNvPr>
          <p:cNvSpPr/>
          <p:nvPr/>
        </p:nvSpPr>
        <p:spPr>
          <a:xfrm>
            <a:off x="443159" y="739321"/>
            <a:ext cx="3810000" cy="3664857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109ACDF6-FE6D-4529-98C8-0CEA1DA336B5}"/>
              </a:ext>
            </a:extLst>
          </p:cNvPr>
          <p:cNvSpPr/>
          <p:nvPr/>
        </p:nvSpPr>
        <p:spPr>
          <a:xfrm>
            <a:off x="4840041" y="739320"/>
            <a:ext cx="3810000" cy="3664857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F09F8983-5CF8-43BC-A2B2-781461BB87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188" y="982323"/>
            <a:ext cx="3153942" cy="317885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F4EC75A-D7C1-41DA-A372-0B5E7920B0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3623" y="982323"/>
            <a:ext cx="3122836" cy="317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4777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Arial Black" pitchFamily="34" charset="0"/>
              </a:rPr>
              <a:t>배경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114800" cy="3931920"/>
          </a:xfrm>
          <a:prstGeom prst="rect">
            <a:avLst/>
          </a:prstGeom>
          <a:solidFill>
            <a:srgbClr val="1A3A5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144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3B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가족이 멀리 떨어져 있을 때 생기는 불안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508760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48132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조부모님과 연락이 안 닿아 가족들이 반복적으로 불안을 겪음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2221992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1945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휴대폰을 가지고 있어도 전화를 놓치거나 메시지를 확인 못하는 경우 다수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2935224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907792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혼자 사는 할머니와 3일간 연락 두절 → 직접 방문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3648456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621024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케어 서비스는 어르신이 직접 입력해야 해 디지털 기기에 익숙하지 않은 고령층에게 부담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46320" y="822960"/>
            <a:ext cx="3931920" cy="1828800"/>
          </a:xfrm>
          <a:prstGeom prst="rect">
            <a:avLst/>
          </a:prstGeom>
          <a:solidFill>
            <a:srgbClr val="0F8A7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960120"/>
            <a:ext cx="548640" cy="54864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669280" y="9144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"왜 가족이 안심할 수 있는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방법은 없을까?"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029200" y="19659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물음에서 HUB FAMILY가 시작되었습니다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846320" y="2834640"/>
            <a:ext cx="393192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5029200" y="29260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서비스의 한계</a:t>
            </a:r>
            <a:endParaRPr lang="en-US" sz="140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456432"/>
            <a:ext cx="256032" cy="25603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394960" y="343814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어르신이 직접 입력 → 반복 부담</a:t>
            </a:r>
            <a:endParaRPr lang="en-US" sz="12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840480"/>
            <a:ext cx="256032" cy="25603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394960" y="38221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디지털 기기 미숙 → 기록 누락 빈번</a:t>
            </a:r>
            <a:endParaRPr lang="en-US" sz="120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4224528"/>
            <a:ext cx="256032" cy="25603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394960" y="4206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기록 누락 → 자녀의 불안 가중</a:t>
            </a:r>
            <a:endParaRPr lang="en-US" sz="1200" dirty="0"/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4989712E-AA22-4DA9-961F-9B031CB283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954AF2C1-5876-4FAD-BB4D-BA7BCB2841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  <p:sp>
        <p:nvSpPr>
          <p:cNvPr id="4" name=""/>
          <p:cNvSpPr txBox="1"/>
          <p:nvPr/>
        </p:nvSpPr>
        <p:spPr>
          <a:xfrm>
            <a:off x="7223198" y="1251102"/>
            <a:ext cx="1837479" cy="194793"/>
          </a:xfrm>
          <a:prstGeom prst="rect">
            <a:avLst/>
          </a:prstGeom>
        </p:spPr>
        <p:txBody>
          <a:bodyPr wrap="square">
            <a:spAutoFit/>
          </a:bodyPr>
          <a:p>
            <a:pPr latinLnBrk="1">
              <a:defRPr/>
            </a:pPr>
            <a:r>
              <a:rPr lang="ko-KR" altLang="en-US" sz="700"/>
              <a:t>자료</a:t>
            </a:r>
            <a:r>
              <a:rPr lang="en-US" altLang="en-US" sz="700"/>
              <a:t>: </a:t>
            </a:r>
            <a:r>
              <a:rPr lang="ko-KR" altLang="en-US" sz="700"/>
              <a:t>한국지능정보사회진흥원</a:t>
            </a:r>
            <a:r>
              <a:rPr lang="en-US" altLang="en-US" sz="700"/>
              <a:t>(NIA)</a:t>
            </a:r>
            <a:endParaRPr lang="en-US" altLang="en-US" sz="7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Arial Black" pitchFamily="34" charset="0"/>
              </a:rPr>
              <a:t>배경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114800" cy="3931920"/>
          </a:xfrm>
          <a:prstGeom prst="rect">
            <a:avLst/>
          </a:prstGeom>
          <a:solidFill>
            <a:srgbClr val="1A3A5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144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3B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가족이 멀리 떨어져 있을 때 생기는 불안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508760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48132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조부모님과 연락이 안 닿아 가족들이 반복적으로 불안을 겪음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2221992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1945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휴대폰을 가지고 있어도 전화를 놓치거나 메시지를 확인 못하는 경우 다수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2935224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907792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혼자 사는 할머니와 3일간 연락 두절 → 직접 방문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3648456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621024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케어 서비스는 어르신이 직접 입력해야 해 디지털 기기에 익숙하지 않은 고령층에게 부담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46320" y="822960"/>
            <a:ext cx="3931920" cy="1828800"/>
          </a:xfrm>
          <a:prstGeom prst="rect">
            <a:avLst/>
          </a:prstGeom>
          <a:solidFill>
            <a:srgbClr val="0F8A7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960120"/>
            <a:ext cx="548640" cy="54864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669280" y="9144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"왜 가족이 안심할 수 있는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방법은 없을까?"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029200" y="19659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물음에서 HUB FAMILY가 시작되었습니다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846320" y="2834640"/>
            <a:ext cx="393192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5029200" y="29260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서비스의 한계</a:t>
            </a:r>
            <a:endParaRPr lang="en-US" sz="140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456432"/>
            <a:ext cx="256032" cy="25603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394960" y="343814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어르신이 직접 입력 → 반복 부담</a:t>
            </a:r>
            <a:endParaRPr lang="en-US" sz="12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840480"/>
            <a:ext cx="256032" cy="25603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394960" y="38221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디지털 기기 미숙 → 기록 누락 빈번</a:t>
            </a:r>
            <a:endParaRPr lang="en-US" sz="120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4224528"/>
            <a:ext cx="256032" cy="25603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394960" y="4206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기록 누락 → 자녀의 불안 가중</a:t>
            </a:r>
            <a:endParaRPr lang="en-US" sz="1200" dirty="0"/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4989712E-AA22-4DA9-961F-9B031CB283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954AF2C1-5876-4FAD-BB4D-BA7BCB2841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B01703C4-2714-44F1-8172-2A2602BE4EE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3725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B9DAB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 </a:t>
            </a:r>
            <a:r>
              <a:rPr lang="en-US" sz="22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문제인식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06480"/>
            <a:ext cx="4114800" cy="3931920"/>
          </a:xfrm>
          <a:prstGeom prst="rect">
            <a:avLst/>
          </a:prstGeom>
          <a:solidFill>
            <a:srgbClr val="B9DAB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Text 3"/>
          <p:cNvSpPr/>
          <p:nvPr/>
        </p:nvSpPr>
        <p:spPr>
          <a:xfrm>
            <a:off x="502920" y="9144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3B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가족이 멀리 떨어져 있을 때 생기는 불안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508760"/>
            <a:ext cx="274320" cy="274320"/>
          </a:xfrm>
          <a:prstGeom prst="ellipse">
            <a:avLst/>
          </a:prstGeom>
          <a:solidFill>
            <a:srgbClr val="F2F2F2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3716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latin typeface="Arial" pitchFamily="34" charset="0"/>
                <a:ea typeface="Arial" pitchFamily="34" charset="-122"/>
                <a:cs typeface="Arial" pitchFamily="34" charset="-120"/>
              </a:rPr>
              <a:t>조부모님과 연락이 안 닿아 가족들이 반복적으로 불안을 겪음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2221992"/>
            <a:ext cx="274320" cy="274320"/>
          </a:xfrm>
          <a:prstGeom prst="ellipse">
            <a:avLst/>
          </a:prstGeom>
          <a:solidFill>
            <a:srgbClr val="F2F2F2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06251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latin typeface="Arial" pitchFamily="34" charset="0"/>
                <a:ea typeface="Arial" pitchFamily="34" charset="-122"/>
                <a:cs typeface="Arial" pitchFamily="34" charset="-120"/>
              </a:rPr>
              <a:t>휴대폰을 가지고 있어도 전화를 놓치거나 메시지를 확인 못하는 경우 다수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2935224"/>
            <a:ext cx="274320" cy="274320"/>
          </a:xfrm>
          <a:prstGeom prst="ellipse">
            <a:avLst/>
          </a:prstGeom>
          <a:solidFill>
            <a:srgbClr val="F2F2F2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775742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latin typeface="Arial" pitchFamily="34" charset="0"/>
                <a:ea typeface="Arial" pitchFamily="34" charset="-122"/>
                <a:cs typeface="Arial" pitchFamily="34" charset="-120"/>
              </a:rPr>
              <a:t>혼자 사는 할머니와 3일간 연락 두절 → 직접 방문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3685032"/>
            <a:ext cx="274320" cy="274320"/>
          </a:xfrm>
          <a:prstGeom prst="ellipse">
            <a:avLst/>
          </a:prstGeom>
          <a:solidFill>
            <a:srgbClr val="F2F2F2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488974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latin typeface="Arial" pitchFamily="34" charset="0"/>
                <a:ea typeface="Arial" pitchFamily="34" charset="-122"/>
                <a:cs typeface="Arial" pitchFamily="34" charset="-120"/>
              </a:rPr>
              <a:t>기존 케어 서비스는 어르신이 직접 입력해야 해 </a:t>
            </a:r>
          </a:p>
          <a:p>
            <a:pPr marL="0" indent="0" algn="l">
              <a:buNone/>
            </a:pPr>
            <a:r>
              <a:rPr lang="en-US" sz="12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디지털</a:t>
            </a:r>
            <a:r>
              <a:rPr lang="en-US" sz="1200" dirty="0">
                <a:latin typeface="Arial" pitchFamily="34" charset="0"/>
                <a:ea typeface="Arial" pitchFamily="34" charset="-122"/>
                <a:cs typeface="Arial" pitchFamily="34" charset="-120"/>
              </a:rPr>
              <a:t> 기기에 익숙하지 않은 고령층에게 부담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46320" y="822960"/>
            <a:ext cx="3931920" cy="1828800"/>
          </a:xfrm>
          <a:prstGeom prst="rect">
            <a:avLst/>
          </a:prstGeom>
          <a:solidFill>
            <a:srgbClr val="B9DAB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960120"/>
            <a:ext cx="548640" cy="54864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669280" y="9144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"왜 가족이 안심할 수 있는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방법은 없을까?"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029200" y="19659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latin typeface="Arial" pitchFamily="34" charset="0"/>
                <a:ea typeface="Arial" pitchFamily="34" charset="-122"/>
                <a:cs typeface="Arial" pitchFamily="34" charset="-120"/>
              </a:rPr>
              <a:t>이 물음에서 HUB FAMILY가 시작되었습니다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846320" y="2834640"/>
            <a:ext cx="393192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5029200" y="29260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서비스의 한계</a:t>
            </a:r>
            <a:endParaRPr lang="en-US" sz="140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456432"/>
            <a:ext cx="256032" cy="25603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394960" y="343814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어르신이 직접 입력 → 반복 부담</a:t>
            </a:r>
            <a:endParaRPr lang="en-US" sz="12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840480"/>
            <a:ext cx="256032" cy="25603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394960" y="38221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디지털 기기 미숙 → 기록 누락 빈번</a:t>
            </a:r>
            <a:endParaRPr lang="en-US" sz="120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4224528"/>
            <a:ext cx="256032" cy="25603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394960" y="4206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기록 누락 → 자녀의 불안 가중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5473511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B9DAB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 </a:t>
            </a:r>
            <a:r>
              <a:rPr lang="en-US" sz="22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아이템</a:t>
            </a: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개발: 상품·서비스 소개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부모는 부담 없이, 자녀는 안심할 수 있는 가족 케어 플랫폼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20040" y="1298448"/>
            <a:ext cx="26974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29768" y="1435608"/>
            <a:ext cx="502920" cy="502920"/>
          </a:xfrm>
          <a:prstGeom prst="ellipse">
            <a:avLst/>
          </a:prstGeom>
          <a:solidFill>
            <a:srgbClr val="0F8A7E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" y="1453896"/>
            <a:ext cx="466344" cy="4663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33272" y="14630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생활 패턴 감지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29768" y="1956816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스마트폰 센서 기반으로 활동·조도·충전 상태 파악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46120" y="1298448"/>
            <a:ext cx="26974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55848" y="1435608"/>
            <a:ext cx="502920" cy="502920"/>
          </a:xfrm>
          <a:prstGeom prst="ellipse">
            <a:avLst/>
          </a:prstGeom>
          <a:solidFill>
            <a:srgbClr val="0F8A7E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4136" y="1453896"/>
            <a:ext cx="466344" cy="4663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959352" y="14630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식사 체크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355848" y="1956816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하루 세끼 여부 간단 표시 및 사진 등록 가능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172200" y="1298448"/>
            <a:ext cx="26974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81928" y="1435608"/>
            <a:ext cx="502920" cy="502920"/>
          </a:xfrm>
          <a:prstGeom prst="ellipse">
            <a:avLst/>
          </a:prstGeom>
          <a:solidFill>
            <a:srgbClr val="0F8A7E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0216" y="1453896"/>
            <a:ext cx="466344" cy="4663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885432" y="14630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복약 알림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281928" y="1956816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복용 시간 알림 및 미체크 시 단계별 알림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320040" y="2926080"/>
            <a:ext cx="26974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29768" y="3063240"/>
            <a:ext cx="502920" cy="502920"/>
          </a:xfrm>
          <a:prstGeom prst="ellipse">
            <a:avLst/>
          </a:prstGeom>
          <a:solidFill>
            <a:srgbClr val="0F8A7E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056" y="3081528"/>
            <a:ext cx="466344" cy="46634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33272" y="309067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기분 체크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429768" y="358444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아침·점심·저녁 기분을 이모지로 간단히 선택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3246120" y="2926080"/>
            <a:ext cx="26974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355848" y="3063240"/>
            <a:ext cx="502920" cy="502920"/>
          </a:xfrm>
          <a:prstGeom prst="ellipse">
            <a:avLst/>
          </a:prstGeom>
          <a:solidFill>
            <a:srgbClr val="0F8A7E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74136" y="3081528"/>
            <a:ext cx="466344" cy="46634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959352" y="309067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자녀 리포트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3355848" y="358444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부모님의 하루 상태를 요약해 자녀에게 전달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6172200" y="2926080"/>
            <a:ext cx="26974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281928" y="3063240"/>
            <a:ext cx="502920" cy="502920"/>
          </a:xfrm>
          <a:prstGeom prst="ellipse">
            <a:avLst/>
          </a:prstGeom>
          <a:solidFill>
            <a:srgbClr val="0F8A7E"/>
          </a:solidFill>
          <a:ln/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0216" y="3081528"/>
            <a:ext cx="466344" cy="46634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885432" y="309067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병원 일정 연동</a:t>
            </a:r>
            <a:endParaRPr lang="en-US" sz="1400" dirty="0"/>
          </a:p>
        </p:txBody>
      </p:sp>
      <p:sp>
        <p:nvSpPr>
          <p:cNvPr id="34" name="Text 26"/>
          <p:cNvSpPr/>
          <p:nvPr/>
        </p:nvSpPr>
        <p:spPr>
          <a:xfrm>
            <a:off x="6281928" y="358444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자녀가 병원 일정 입력 시 </a:t>
            </a:r>
            <a:r>
              <a:rPr lang="en-US" sz="1100" dirty="0" err="1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부모님에게</a:t>
            </a:r>
            <a:endParaRPr lang="en-US" sz="1100" dirty="0">
              <a:solidFill>
                <a:srgbClr val="64748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buNone/>
            </a:pPr>
            <a:r>
              <a:rPr lang="en-US" sz="1100" dirty="0" err="1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알림</a:t>
            </a:r>
            <a:endParaRPr lang="en-US" sz="1100" dirty="0"/>
          </a:p>
        </p:txBody>
      </p:sp>
      <p:sp>
        <p:nvSpPr>
          <p:cNvPr id="35" name="Shape 27"/>
          <p:cNvSpPr/>
          <p:nvPr/>
        </p:nvSpPr>
        <p:spPr>
          <a:xfrm>
            <a:off x="320040" y="4526280"/>
            <a:ext cx="8503920" cy="4572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/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4590288"/>
            <a:ext cx="329184" cy="329184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914400" y="45262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이상 징후 알림: 장시간 미응답, 미체크 발생 시 보호자에게 즉시 알림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73183-56F5-6E19-85F0-BD37FC2EE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349F5B6-0F4E-FA15-DC23-828472E52424}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B9DABB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2717868-A587-975D-DC77-D51B0B057239}"/>
              </a:ext>
            </a:extLst>
          </p:cNvPr>
          <p:cNvSpPr/>
          <p:nvPr/>
        </p:nvSpPr>
        <p:spPr>
          <a:xfrm>
            <a:off x="365760" y="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 </a:t>
            </a:r>
            <a:r>
              <a:rPr lang="en-US" sz="22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아이템</a:t>
            </a: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개발: 상품·서비스 소개</a:t>
            </a:r>
            <a:endParaRPr lang="en-US" sz="2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A094A10-9277-EEF7-7B99-765EB59E5971}"/>
              </a:ext>
            </a:extLst>
          </p:cNvPr>
          <p:cNvSpPr/>
          <p:nvPr/>
        </p:nvSpPr>
        <p:spPr>
          <a:xfrm>
            <a:off x="365760" y="7315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부모는 부담 없이, 자녀는 안심할 수 있는 가족 케어 플랫폼</a:t>
            </a:r>
            <a:endParaRPr lang="en-US" sz="15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9779519-4DB9-FEC1-DE19-14ED549700D8}"/>
              </a:ext>
            </a:extLst>
          </p:cNvPr>
          <p:cNvSpPr/>
          <p:nvPr/>
        </p:nvSpPr>
        <p:spPr>
          <a:xfrm>
            <a:off x="320040" y="1298448"/>
            <a:ext cx="26974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AC8D5D42-5EE2-7E5F-7A31-50CA30B54BE0}"/>
              </a:ext>
            </a:extLst>
          </p:cNvPr>
          <p:cNvSpPr/>
          <p:nvPr/>
        </p:nvSpPr>
        <p:spPr>
          <a:xfrm>
            <a:off x="429768" y="1435608"/>
            <a:ext cx="502920" cy="502920"/>
          </a:xfrm>
          <a:prstGeom prst="ellipse">
            <a:avLst/>
          </a:prstGeom>
          <a:solidFill>
            <a:srgbClr val="0F8A7E"/>
          </a:solidFill>
          <a:ln/>
        </p:spPr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3305A956-EF83-B194-E3B3-E4BCB9CB6B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" y="1453896"/>
            <a:ext cx="466344" cy="466344"/>
          </a:xfrm>
          <a:prstGeom prst="rect">
            <a:avLst/>
          </a:prstGeom>
        </p:spPr>
      </p:pic>
      <p:sp>
        <p:nvSpPr>
          <p:cNvPr id="8" name="Text 5">
            <a:extLst>
              <a:ext uri="{FF2B5EF4-FFF2-40B4-BE49-F238E27FC236}">
                <a16:creationId xmlns:a16="http://schemas.microsoft.com/office/drawing/2014/main" id="{511C3FCF-76D1-316F-5BC1-7E89D441E056}"/>
              </a:ext>
            </a:extLst>
          </p:cNvPr>
          <p:cNvSpPr/>
          <p:nvPr/>
        </p:nvSpPr>
        <p:spPr>
          <a:xfrm>
            <a:off x="1033272" y="14630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생활 패턴 감지</a:t>
            </a:r>
            <a:endParaRPr lang="en-US" sz="14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EBE7B211-7D84-5113-E897-0C697CCAC5CA}"/>
              </a:ext>
            </a:extLst>
          </p:cNvPr>
          <p:cNvSpPr/>
          <p:nvPr/>
        </p:nvSpPr>
        <p:spPr>
          <a:xfrm>
            <a:off x="429768" y="1956816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스마트폰 센서 기반으로 활동·조도·충전 상태 파악</a:t>
            </a:r>
            <a:endParaRPr lang="en-US" sz="110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AEBFC914-BB4B-0D65-E211-CF9DE67D1A6B}"/>
              </a:ext>
            </a:extLst>
          </p:cNvPr>
          <p:cNvSpPr/>
          <p:nvPr/>
        </p:nvSpPr>
        <p:spPr>
          <a:xfrm>
            <a:off x="3246120" y="1298448"/>
            <a:ext cx="26974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CAD1F35E-41D4-BBA0-C683-C57FB1F9666B}"/>
              </a:ext>
            </a:extLst>
          </p:cNvPr>
          <p:cNvSpPr/>
          <p:nvPr/>
        </p:nvSpPr>
        <p:spPr>
          <a:xfrm>
            <a:off x="3355848" y="1435608"/>
            <a:ext cx="502920" cy="502920"/>
          </a:xfrm>
          <a:prstGeom prst="ellipse">
            <a:avLst/>
          </a:prstGeom>
          <a:solidFill>
            <a:srgbClr val="0F8A7E"/>
          </a:solidFill>
          <a:ln/>
        </p:spPr>
      </p:sp>
      <p:pic>
        <p:nvPicPr>
          <p:cNvPr id="12" name="Image 1" descr="preencoded.png">
            <a:extLst>
              <a:ext uri="{FF2B5EF4-FFF2-40B4-BE49-F238E27FC236}">
                <a16:creationId xmlns:a16="http://schemas.microsoft.com/office/drawing/2014/main" id="{FE839F9C-EE28-AD6C-41F5-4BDE29C852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4136" y="1453896"/>
            <a:ext cx="466344" cy="466344"/>
          </a:xfrm>
          <a:prstGeom prst="rect">
            <a:avLst/>
          </a:prstGeom>
        </p:spPr>
      </p:pic>
      <p:sp>
        <p:nvSpPr>
          <p:cNvPr id="13" name="Text 9">
            <a:extLst>
              <a:ext uri="{FF2B5EF4-FFF2-40B4-BE49-F238E27FC236}">
                <a16:creationId xmlns:a16="http://schemas.microsoft.com/office/drawing/2014/main" id="{20A4A6BA-8E1E-BCAB-B102-0F522589ED7A}"/>
              </a:ext>
            </a:extLst>
          </p:cNvPr>
          <p:cNvSpPr/>
          <p:nvPr/>
        </p:nvSpPr>
        <p:spPr>
          <a:xfrm>
            <a:off x="3959352" y="14630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식사 체크</a:t>
            </a:r>
            <a:endParaRPr lang="en-US" sz="1400" dirty="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0246CF3D-5543-2BF4-4126-9C870A886C20}"/>
              </a:ext>
            </a:extLst>
          </p:cNvPr>
          <p:cNvSpPr/>
          <p:nvPr/>
        </p:nvSpPr>
        <p:spPr>
          <a:xfrm>
            <a:off x="3355848" y="1956816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하루 세끼 여부 간단 표시 및 사진 등록 가능</a:t>
            </a:r>
            <a:endParaRPr lang="en-US" sz="1100" dirty="0"/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3D0C0081-925D-E7D7-7230-899740CF5631}"/>
              </a:ext>
            </a:extLst>
          </p:cNvPr>
          <p:cNvSpPr/>
          <p:nvPr/>
        </p:nvSpPr>
        <p:spPr>
          <a:xfrm>
            <a:off x="6172200" y="1298448"/>
            <a:ext cx="26974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326EF19C-7E0D-AC8E-1C00-75A521DC6A3C}"/>
              </a:ext>
            </a:extLst>
          </p:cNvPr>
          <p:cNvSpPr/>
          <p:nvPr/>
        </p:nvSpPr>
        <p:spPr>
          <a:xfrm>
            <a:off x="6281928" y="1435608"/>
            <a:ext cx="502920" cy="502920"/>
          </a:xfrm>
          <a:prstGeom prst="ellipse">
            <a:avLst/>
          </a:prstGeom>
          <a:solidFill>
            <a:srgbClr val="0F8A7E"/>
          </a:solidFill>
          <a:ln/>
        </p:spPr>
      </p:sp>
      <p:pic>
        <p:nvPicPr>
          <p:cNvPr id="17" name="Image 2" descr="preencoded.png">
            <a:extLst>
              <a:ext uri="{FF2B5EF4-FFF2-40B4-BE49-F238E27FC236}">
                <a16:creationId xmlns:a16="http://schemas.microsoft.com/office/drawing/2014/main" id="{98827EC5-2263-F0EF-6E60-30E7A9DDC2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0216" y="1453896"/>
            <a:ext cx="466344" cy="466344"/>
          </a:xfrm>
          <a:prstGeom prst="rect">
            <a:avLst/>
          </a:prstGeom>
        </p:spPr>
      </p:pic>
      <p:sp>
        <p:nvSpPr>
          <p:cNvPr id="18" name="Text 13">
            <a:extLst>
              <a:ext uri="{FF2B5EF4-FFF2-40B4-BE49-F238E27FC236}">
                <a16:creationId xmlns:a16="http://schemas.microsoft.com/office/drawing/2014/main" id="{6B1ECB80-C373-1BC2-0D2C-C7DFD284033F}"/>
              </a:ext>
            </a:extLst>
          </p:cNvPr>
          <p:cNvSpPr/>
          <p:nvPr/>
        </p:nvSpPr>
        <p:spPr>
          <a:xfrm>
            <a:off x="6885432" y="14630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복약 알림</a:t>
            </a:r>
            <a:endParaRPr lang="en-US" sz="1400" dirty="0"/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DFE26260-9583-8389-FB22-DC0C9515A705}"/>
              </a:ext>
            </a:extLst>
          </p:cNvPr>
          <p:cNvSpPr/>
          <p:nvPr/>
        </p:nvSpPr>
        <p:spPr>
          <a:xfrm>
            <a:off x="6281928" y="1956816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복용 시간 알림 및 미체크 시 단계별 알림</a:t>
            </a:r>
            <a:endParaRPr lang="en-US" sz="1100" dirty="0"/>
          </a:p>
        </p:txBody>
      </p:sp>
      <p:sp>
        <p:nvSpPr>
          <p:cNvPr id="20" name="Shape 15">
            <a:extLst>
              <a:ext uri="{FF2B5EF4-FFF2-40B4-BE49-F238E27FC236}">
                <a16:creationId xmlns:a16="http://schemas.microsoft.com/office/drawing/2014/main" id="{7205003B-D62A-9146-AA91-6E780A31522C}"/>
              </a:ext>
            </a:extLst>
          </p:cNvPr>
          <p:cNvSpPr/>
          <p:nvPr/>
        </p:nvSpPr>
        <p:spPr>
          <a:xfrm>
            <a:off x="320040" y="2926080"/>
            <a:ext cx="26974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6">
            <a:extLst>
              <a:ext uri="{FF2B5EF4-FFF2-40B4-BE49-F238E27FC236}">
                <a16:creationId xmlns:a16="http://schemas.microsoft.com/office/drawing/2014/main" id="{9D613541-7630-8332-781D-DF627C6309D9}"/>
              </a:ext>
            </a:extLst>
          </p:cNvPr>
          <p:cNvSpPr/>
          <p:nvPr/>
        </p:nvSpPr>
        <p:spPr>
          <a:xfrm>
            <a:off x="429768" y="3063240"/>
            <a:ext cx="502920" cy="502920"/>
          </a:xfrm>
          <a:prstGeom prst="ellipse">
            <a:avLst/>
          </a:prstGeom>
          <a:solidFill>
            <a:srgbClr val="0F8A7E"/>
          </a:solidFill>
          <a:ln/>
        </p:spPr>
      </p:sp>
      <p:pic>
        <p:nvPicPr>
          <p:cNvPr id="22" name="Image 3" descr="preencoded.png">
            <a:extLst>
              <a:ext uri="{FF2B5EF4-FFF2-40B4-BE49-F238E27FC236}">
                <a16:creationId xmlns:a16="http://schemas.microsoft.com/office/drawing/2014/main" id="{19C6A8A8-BBB0-7682-1DCB-1FD48F3929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056" y="3081528"/>
            <a:ext cx="466344" cy="466344"/>
          </a:xfrm>
          <a:prstGeom prst="rect">
            <a:avLst/>
          </a:prstGeom>
        </p:spPr>
      </p:pic>
      <p:sp>
        <p:nvSpPr>
          <p:cNvPr id="23" name="Text 17">
            <a:extLst>
              <a:ext uri="{FF2B5EF4-FFF2-40B4-BE49-F238E27FC236}">
                <a16:creationId xmlns:a16="http://schemas.microsoft.com/office/drawing/2014/main" id="{BEC9810E-7829-459B-6DD6-E4EC2DDE0F0E}"/>
              </a:ext>
            </a:extLst>
          </p:cNvPr>
          <p:cNvSpPr/>
          <p:nvPr/>
        </p:nvSpPr>
        <p:spPr>
          <a:xfrm>
            <a:off x="1033272" y="309067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기분 체크</a:t>
            </a:r>
            <a:endParaRPr lang="en-US" sz="1400" dirty="0"/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404E6E28-1EB3-44F5-1D33-9EF6F107F123}"/>
              </a:ext>
            </a:extLst>
          </p:cNvPr>
          <p:cNvSpPr/>
          <p:nvPr/>
        </p:nvSpPr>
        <p:spPr>
          <a:xfrm>
            <a:off x="429768" y="358444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아침·점심·저녁 기분을 이모지로 간단히 선택</a:t>
            </a:r>
            <a:endParaRPr lang="en-US" sz="1100" dirty="0"/>
          </a:p>
        </p:txBody>
      </p:sp>
      <p:sp>
        <p:nvSpPr>
          <p:cNvPr id="25" name="Shape 19">
            <a:extLst>
              <a:ext uri="{FF2B5EF4-FFF2-40B4-BE49-F238E27FC236}">
                <a16:creationId xmlns:a16="http://schemas.microsoft.com/office/drawing/2014/main" id="{64E510CB-B227-ECFA-2E39-7A39644B82AA}"/>
              </a:ext>
            </a:extLst>
          </p:cNvPr>
          <p:cNvSpPr/>
          <p:nvPr/>
        </p:nvSpPr>
        <p:spPr>
          <a:xfrm>
            <a:off x="3246120" y="2926080"/>
            <a:ext cx="26974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0">
            <a:extLst>
              <a:ext uri="{FF2B5EF4-FFF2-40B4-BE49-F238E27FC236}">
                <a16:creationId xmlns:a16="http://schemas.microsoft.com/office/drawing/2014/main" id="{B2BB07A6-AAAF-5AD2-D35F-81542D96F54E}"/>
              </a:ext>
            </a:extLst>
          </p:cNvPr>
          <p:cNvSpPr/>
          <p:nvPr/>
        </p:nvSpPr>
        <p:spPr>
          <a:xfrm>
            <a:off x="3355848" y="3063240"/>
            <a:ext cx="502920" cy="502920"/>
          </a:xfrm>
          <a:prstGeom prst="ellipse">
            <a:avLst/>
          </a:prstGeom>
          <a:solidFill>
            <a:srgbClr val="0F8A7E"/>
          </a:solidFill>
          <a:ln/>
        </p:spPr>
      </p:sp>
      <p:pic>
        <p:nvPicPr>
          <p:cNvPr id="27" name="Image 4" descr="preencoded.png">
            <a:extLst>
              <a:ext uri="{FF2B5EF4-FFF2-40B4-BE49-F238E27FC236}">
                <a16:creationId xmlns:a16="http://schemas.microsoft.com/office/drawing/2014/main" id="{07641FEA-E28A-8110-DF45-F659BA7574C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74136" y="3081528"/>
            <a:ext cx="466344" cy="466344"/>
          </a:xfrm>
          <a:prstGeom prst="rect">
            <a:avLst/>
          </a:prstGeom>
        </p:spPr>
      </p:pic>
      <p:sp>
        <p:nvSpPr>
          <p:cNvPr id="28" name="Text 21">
            <a:extLst>
              <a:ext uri="{FF2B5EF4-FFF2-40B4-BE49-F238E27FC236}">
                <a16:creationId xmlns:a16="http://schemas.microsoft.com/office/drawing/2014/main" id="{F4E4F031-842A-4629-5CF4-12FAB5243310}"/>
              </a:ext>
            </a:extLst>
          </p:cNvPr>
          <p:cNvSpPr/>
          <p:nvPr/>
        </p:nvSpPr>
        <p:spPr>
          <a:xfrm>
            <a:off x="3959352" y="309067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자녀 리포트</a:t>
            </a:r>
            <a:endParaRPr lang="en-US" sz="1400" dirty="0"/>
          </a:p>
        </p:txBody>
      </p:sp>
      <p:sp>
        <p:nvSpPr>
          <p:cNvPr id="29" name="Text 22">
            <a:extLst>
              <a:ext uri="{FF2B5EF4-FFF2-40B4-BE49-F238E27FC236}">
                <a16:creationId xmlns:a16="http://schemas.microsoft.com/office/drawing/2014/main" id="{9E393B7E-DC39-A8B2-9C07-D432D4B3B2D1}"/>
              </a:ext>
            </a:extLst>
          </p:cNvPr>
          <p:cNvSpPr/>
          <p:nvPr/>
        </p:nvSpPr>
        <p:spPr>
          <a:xfrm>
            <a:off x="3355848" y="358444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부모님의 하루 상태를 요약해 자녀에게 전달</a:t>
            </a:r>
            <a:endParaRPr lang="en-US" sz="1100" dirty="0"/>
          </a:p>
        </p:txBody>
      </p:sp>
      <p:sp>
        <p:nvSpPr>
          <p:cNvPr id="30" name="Shape 23">
            <a:extLst>
              <a:ext uri="{FF2B5EF4-FFF2-40B4-BE49-F238E27FC236}">
                <a16:creationId xmlns:a16="http://schemas.microsoft.com/office/drawing/2014/main" id="{AA870A1F-81B7-5CFB-811D-E0FB73BFC3BA}"/>
              </a:ext>
            </a:extLst>
          </p:cNvPr>
          <p:cNvSpPr/>
          <p:nvPr/>
        </p:nvSpPr>
        <p:spPr>
          <a:xfrm>
            <a:off x="6172200" y="2926080"/>
            <a:ext cx="26974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4">
            <a:extLst>
              <a:ext uri="{FF2B5EF4-FFF2-40B4-BE49-F238E27FC236}">
                <a16:creationId xmlns:a16="http://schemas.microsoft.com/office/drawing/2014/main" id="{7D9CE189-B021-E71A-D55E-DF73522697D0}"/>
              </a:ext>
            </a:extLst>
          </p:cNvPr>
          <p:cNvSpPr/>
          <p:nvPr/>
        </p:nvSpPr>
        <p:spPr>
          <a:xfrm>
            <a:off x="6281928" y="3063240"/>
            <a:ext cx="502920" cy="502920"/>
          </a:xfrm>
          <a:prstGeom prst="ellipse">
            <a:avLst/>
          </a:prstGeom>
          <a:solidFill>
            <a:srgbClr val="0F8A7E"/>
          </a:solidFill>
          <a:ln/>
        </p:spPr>
      </p:sp>
      <p:pic>
        <p:nvPicPr>
          <p:cNvPr id="32" name="Image 5" descr="preencoded.png">
            <a:extLst>
              <a:ext uri="{FF2B5EF4-FFF2-40B4-BE49-F238E27FC236}">
                <a16:creationId xmlns:a16="http://schemas.microsoft.com/office/drawing/2014/main" id="{3B4AB98D-B5CD-E38F-2DE3-F976226C6CE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0216" y="3081528"/>
            <a:ext cx="466344" cy="466344"/>
          </a:xfrm>
          <a:prstGeom prst="rect">
            <a:avLst/>
          </a:prstGeom>
        </p:spPr>
      </p:pic>
      <p:sp>
        <p:nvSpPr>
          <p:cNvPr id="33" name="Text 25">
            <a:extLst>
              <a:ext uri="{FF2B5EF4-FFF2-40B4-BE49-F238E27FC236}">
                <a16:creationId xmlns:a16="http://schemas.microsoft.com/office/drawing/2014/main" id="{2465C975-726C-E2FF-D925-5CA59474D38E}"/>
              </a:ext>
            </a:extLst>
          </p:cNvPr>
          <p:cNvSpPr/>
          <p:nvPr/>
        </p:nvSpPr>
        <p:spPr>
          <a:xfrm>
            <a:off x="6885432" y="309067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병원 일정 연동</a:t>
            </a:r>
            <a:endParaRPr lang="en-US" sz="1400" dirty="0"/>
          </a:p>
        </p:txBody>
      </p:sp>
      <p:sp>
        <p:nvSpPr>
          <p:cNvPr id="34" name="Text 26">
            <a:extLst>
              <a:ext uri="{FF2B5EF4-FFF2-40B4-BE49-F238E27FC236}">
                <a16:creationId xmlns:a16="http://schemas.microsoft.com/office/drawing/2014/main" id="{6814B13B-7401-C45A-7C34-758D836FCCE3}"/>
              </a:ext>
            </a:extLst>
          </p:cNvPr>
          <p:cNvSpPr/>
          <p:nvPr/>
        </p:nvSpPr>
        <p:spPr>
          <a:xfrm>
            <a:off x="6281928" y="358444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자녀가 병원 일정 입력 시 </a:t>
            </a:r>
            <a:r>
              <a:rPr lang="en-US" sz="1100" dirty="0" err="1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부모님에게</a:t>
            </a:r>
            <a:endParaRPr lang="en-US" sz="1100" dirty="0">
              <a:solidFill>
                <a:srgbClr val="64748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buNone/>
            </a:pPr>
            <a:r>
              <a:rPr lang="en-US" sz="1100" dirty="0" err="1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알림</a:t>
            </a:r>
            <a:endParaRPr lang="en-US" sz="1100" dirty="0"/>
          </a:p>
        </p:txBody>
      </p:sp>
      <p:sp>
        <p:nvSpPr>
          <p:cNvPr id="35" name="Shape 27">
            <a:extLst>
              <a:ext uri="{FF2B5EF4-FFF2-40B4-BE49-F238E27FC236}">
                <a16:creationId xmlns:a16="http://schemas.microsoft.com/office/drawing/2014/main" id="{E6207823-67A8-C1EF-B2E4-59040D7CF07F}"/>
              </a:ext>
            </a:extLst>
          </p:cNvPr>
          <p:cNvSpPr/>
          <p:nvPr/>
        </p:nvSpPr>
        <p:spPr>
          <a:xfrm>
            <a:off x="320040" y="4526280"/>
            <a:ext cx="8503920" cy="4572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/>
        </p:spPr>
      </p:sp>
      <p:pic>
        <p:nvPicPr>
          <p:cNvPr id="36" name="Image 6" descr="preencoded.png">
            <a:extLst>
              <a:ext uri="{FF2B5EF4-FFF2-40B4-BE49-F238E27FC236}">
                <a16:creationId xmlns:a16="http://schemas.microsoft.com/office/drawing/2014/main" id="{7C082CB5-9F96-3A4F-7E27-B79B154F180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4590288"/>
            <a:ext cx="329184" cy="329184"/>
          </a:xfrm>
          <a:prstGeom prst="rect">
            <a:avLst/>
          </a:prstGeom>
        </p:spPr>
      </p:pic>
      <p:sp>
        <p:nvSpPr>
          <p:cNvPr id="37" name="Text 28">
            <a:extLst>
              <a:ext uri="{FF2B5EF4-FFF2-40B4-BE49-F238E27FC236}">
                <a16:creationId xmlns:a16="http://schemas.microsoft.com/office/drawing/2014/main" id="{EA817C02-C8E3-4A03-D7BA-9FA27AB30C7D}"/>
              </a:ext>
            </a:extLst>
          </p:cNvPr>
          <p:cNvSpPr/>
          <p:nvPr/>
        </p:nvSpPr>
        <p:spPr>
          <a:xfrm>
            <a:off x="914400" y="45262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이상 징후 알림: 장시간 미응답, 미체크 발생 시 보호자에게 즉시 알림</a:t>
            </a:r>
            <a:endParaRPr lang="en-US" sz="1300" dirty="0"/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4FB818A2-0205-4E08-12AB-771F543F1DB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" y="640080"/>
            <a:ext cx="9144000" cy="4520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534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B9DAB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 </a:t>
            </a:r>
            <a:r>
              <a:rPr lang="en-US" sz="22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주요</a:t>
            </a: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고객층 및 비즈니스 모델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4114800" cy="4160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686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주요 고객층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389888"/>
            <a:ext cx="3749040" cy="1005840"/>
          </a:xfrm>
          <a:prstGeom prst="rect">
            <a:avLst/>
          </a:prstGeom>
          <a:solidFill>
            <a:srgbClr val="E8F7F5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463040"/>
            <a:ext cx="640080" cy="640080"/>
          </a:xfrm>
          <a:prstGeom prst="ellipse">
            <a:avLst/>
          </a:prstGeom>
          <a:solidFill>
            <a:srgbClr val="0F8A7E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1481328"/>
            <a:ext cx="603504" cy="60350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14356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결제자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325880" y="171907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30~50대 자녀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57200" y="2578608"/>
            <a:ext cx="3749040" cy="10058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Shape 9"/>
          <p:cNvSpPr/>
          <p:nvPr/>
        </p:nvSpPr>
        <p:spPr>
          <a:xfrm>
            <a:off x="566928" y="2651760"/>
            <a:ext cx="640080" cy="640080"/>
          </a:xfrm>
          <a:prstGeom prst="ellipse">
            <a:avLst/>
          </a:prstGeom>
          <a:solidFill>
            <a:srgbClr val="1A3A5C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" y="2670048"/>
            <a:ext cx="603504" cy="60350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25880" y="26243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1325880" y="290779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60~80대 부모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457200" y="376732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니즈: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1463040" y="376732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부모님의 일상 확인 · 연락 두절 불안 </a:t>
            </a:r>
            <a:r>
              <a:rPr lang="en-US" sz="110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해소</a:t>
            </a: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건강 이상 조기 파악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709160" y="777240"/>
            <a:ext cx="4114800" cy="4160520"/>
          </a:xfrm>
          <a:prstGeom prst="rect">
            <a:avLst/>
          </a:prstGeom>
          <a:solidFill>
            <a:srgbClr val="B9DABB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4846320" y="8686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3B0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비즈니스 모델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4846320" y="1389888"/>
            <a:ext cx="3794760" cy="1143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/>
        </p:spPr>
      </p:sp>
      <p:sp>
        <p:nvSpPr>
          <p:cNvPr id="21" name="Text 17"/>
          <p:cNvSpPr/>
          <p:nvPr/>
        </p:nvSpPr>
        <p:spPr>
          <a:xfrm>
            <a:off x="4983480" y="14630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8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15일 무료체험 후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4983480" y="1792224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월 9,900원</a:t>
            </a:r>
            <a:endParaRPr lang="en-US" sz="2800" dirty="0"/>
          </a:p>
        </p:txBody>
      </p:sp>
      <p:sp>
        <p:nvSpPr>
          <p:cNvPr id="23" name="Shape 19"/>
          <p:cNvSpPr/>
          <p:nvPr/>
        </p:nvSpPr>
        <p:spPr>
          <a:xfrm>
            <a:off x="4846320" y="2697480"/>
            <a:ext cx="201168" cy="201168"/>
          </a:xfrm>
          <a:prstGeom prst="ellipse">
            <a:avLst/>
          </a:prstGeom>
          <a:solidFill>
            <a:schemeClr val="accent5">
              <a:lumMod val="50000"/>
            </a:schemeClr>
          </a:solidFill>
          <a:ln/>
        </p:spPr>
      </p:sp>
      <p:sp>
        <p:nvSpPr>
          <p:cNvPr id="24" name="Text 20"/>
          <p:cNvSpPr/>
          <p:nvPr/>
        </p:nvSpPr>
        <p:spPr>
          <a:xfrm>
            <a:off x="5166360" y="267919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 구독료 기반 안정적 반복 매출</a:t>
            </a:r>
            <a:endParaRPr lang="en-US" sz="115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25" name="Shape 21"/>
          <p:cNvSpPr/>
          <p:nvPr/>
        </p:nvSpPr>
        <p:spPr>
          <a:xfrm>
            <a:off x="4846320" y="3108960"/>
            <a:ext cx="201168" cy="201168"/>
          </a:xfrm>
          <a:prstGeom prst="ellipse">
            <a:avLst/>
          </a:prstGeom>
          <a:solidFill>
            <a:srgbClr val="F2F2F2"/>
          </a:solidFill>
          <a:ln/>
        </p:spPr>
      </p:sp>
      <p:sp>
        <p:nvSpPr>
          <p:cNvPr id="26" name="Text 22"/>
          <p:cNvSpPr/>
          <p:nvPr/>
        </p:nvSpPr>
        <p:spPr>
          <a:xfrm>
            <a:off x="5166360" y="309067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일상 건강 체크 및 병원 일정 관리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4846320" y="3520440"/>
            <a:ext cx="201168" cy="201168"/>
          </a:xfrm>
          <a:prstGeom prst="ellipse">
            <a:avLst/>
          </a:prstGeom>
          <a:solidFill>
            <a:srgbClr val="F2F2F2"/>
          </a:solidFill>
          <a:ln/>
        </p:spPr>
      </p:sp>
      <p:sp>
        <p:nvSpPr>
          <p:cNvPr id="28" name="Text 24"/>
          <p:cNvSpPr/>
          <p:nvPr/>
        </p:nvSpPr>
        <p:spPr>
          <a:xfrm>
            <a:off x="5166360" y="350215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150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자녀 안심 리포트</a:t>
            </a:r>
            <a:endParaRPr lang="en-US" sz="1150" dirty="0"/>
          </a:p>
        </p:txBody>
      </p:sp>
      <p:sp>
        <p:nvSpPr>
          <p:cNvPr id="29" name="Shape 25"/>
          <p:cNvSpPr/>
          <p:nvPr/>
        </p:nvSpPr>
        <p:spPr>
          <a:xfrm>
            <a:off x="4846320" y="3931920"/>
            <a:ext cx="201168" cy="201168"/>
          </a:xfrm>
          <a:prstGeom prst="ellipse">
            <a:avLst/>
          </a:prstGeom>
          <a:solidFill>
            <a:srgbClr val="F2F2F2"/>
          </a:solidFill>
          <a:ln/>
        </p:spPr>
      </p:sp>
      <p:sp>
        <p:nvSpPr>
          <p:cNvPr id="30" name="Text 26"/>
          <p:cNvSpPr/>
          <p:nvPr/>
        </p:nvSpPr>
        <p:spPr>
          <a:xfrm>
            <a:off x="5166360" y="391363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150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생활 패턴 분석</a:t>
            </a:r>
            <a:endParaRPr lang="en-US" sz="1150" dirty="0"/>
          </a:p>
        </p:txBody>
      </p:sp>
      <p:sp>
        <p:nvSpPr>
          <p:cNvPr id="31" name="Shape 27"/>
          <p:cNvSpPr/>
          <p:nvPr/>
        </p:nvSpPr>
        <p:spPr>
          <a:xfrm>
            <a:off x="4846320" y="4343400"/>
            <a:ext cx="201168" cy="201168"/>
          </a:xfrm>
          <a:prstGeom prst="ellipse">
            <a:avLst/>
          </a:prstGeom>
          <a:solidFill>
            <a:srgbClr val="F2F2F2"/>
          </a:solidFill>
          <a:ln/>
        </p:spPr>
      </p:sp>
      <p:sp>
        <p:nvSpPr>
          <p:cNvPr id="32" name="Text 28"/>
          <p:cNvSpPr/>
          <p:nvPr/>
        </p:nvSpPr>
        <p:spPr>
          <a:xfrm>
            <a:off x="5166360" y="432511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AI </a:t>
            </a:r>
            <a:r>
              <a:rPr lang="ko-KR" altLang="en-US" sz="1150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건강 알림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B9DAB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 </a:t>
            </a:r>
            <a:r>
              <a:rPr lang="en-US" sz="22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사업화</a:t>
            </a: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전략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0" y="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13B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출시 후 기능 고도화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2743200" cy="4160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777240"/>
            <a:ext cx="2743200" cy="1005840"/>
          </a:xfrm>
          <a:prstGeom prst="rect">
            <a:avLst/>
          </a:prstGeom>
          <a:solidFill>
            <a:srgbClr val="B9DAB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8046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29768" y="1115568"/>
            <a:ext cx="2523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MVP 개발</a:t>
            </a:r>
            <a:endParaRPr lang="en-US" sz="17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01952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95528" y="188366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식사 체크</a:t>
            </a:r>
            <a:endParaRPr lang="en-US" sz="12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377440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95528" y="235915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복용 알림</a:t>
            </a:r>
            <a:endParaRPr lang="en-US" sz="12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852928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5528" y="28346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기분 상태 기록</a:t>
            </a:r>
            <a:endParaRPr lang="en-US" sz="12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328416"/>
            <a:ext cx="256032" cy="25603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95528" y="33101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병원 일정 관리</a:t>
            </a:r>
            <a:endParaRPr lang="en-US" sz="12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803904"/>
            <a:ext cx="256032" cy="25603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95528" y="378561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자녀 리포트</a:t>
            </a:r>
            <a:endParaRPr lang="en-US" sz="12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279392"/>
            <a:ext cx="256032" cy="256032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795528" y="426110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생활 패턴 감지</a:t>
            </a:r>
            <a:endParaRPr lang="en-US" sz="1200" dirty="0"/>
          </a:p>
        </p:txBody>
      </p:sp>
      <p:sp>
        <p:nvSpPr>
          <p:cNvPr id="21" name="Shape 13"/>
          <p:cNvSpPr/>
          <p:nvPr/>
        </p:nvSpPr>
        <p:spPr>
          <a:xfrm>
            <a:off x="3264408" y="777240"/>
            <a:ext cx="2743200" cy="4160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4"/>
          <p:cNvSpPr/>
          <p:nvPr/>
        </p:nvSpPr>
        <p:spPr>
          <a:xfrm>
            <a:off x="3264408" y="777240"/>
            <a:ext cx="2743200" cy="100584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/>
        </p:spPr>
      </p:sp>
      <p:sp>
        <p:nvSpPr>
          <p:cNvPr id="23" name="Text 15"/>
          <p:cNvSpPr/>
          <p:nvPr/>
        </p:nvSpPr>
        <p:spPr>
          <a:xfrm>
            <a:off x="3401568" y="8046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3374136" y="1115568"/>
            <a:ext cx="2523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기능 도입</a:t>
            </a:r>
            <a:endParaRPr lang="en-US" sz="1700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1568" y="1901952"/>
            <a:ext cx="256032" cy="256032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3739896" y="188366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생활 패턴 변화 분석</a:t>
            </a:r>
            <a:endParaRPr lang="en-US" sz="1200" dirty="0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1568" y="2377440"/>
            <a:ext cx="256032" cy="256032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3739896" y="235915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활동량 감소 감지</a:t>
            </a:r>
            <a:endParaRPr lang="en-US" sz="1200" dirty="0"/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1568" y="2852928"/>
            <a:ext cx="256032" cy="256032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3739896" y="28346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이상 징후 조기 알림</a:t>
            </a:r>
            <a:endParaRPr lang="en-US" sz="1200" dirty="0"/>
          </a:p>
        </p:txBody>
      </p:sp>
      <p:pic>
        <p:nvPicPr>
          <p:cNvPr id="31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1568" y="3328416"/>
            <a:ext cx="256032" cy="256032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3739896" y="33101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맞춤형 건강 리포트</a:t>
            </a:r>
            <a:endParaRPr lang="en-US" sz="1200" dirty="0"/>
          </a:p>
        </p:txBody>
      </p:sp>
      <p:sp>
        <p:nvSpPr>
          <p:cNvPr id="33" name="Shape 21"/>
          <p:cNvSpPr/>
          <p:nvPr/>
        </p:nvSpPr>
        <p:spPr>
          <a:xfrm>
            <a:off x="6208776" y="777240"/>
            <a:ext cx="2743200" cy="4160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22"/>
          <p:cNvSpPr/>
          <p:nvPr/>
        </p:nvSpPr>
        <p:spPr>
          <a:xfrm>
            <a:off x="6208776" y="777240"/>
            <a:ext cx="2743200" cy="100584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/>
        </p:spPr>
      </p:sp>
      <p:sp>
        <p:nvSpPr>
          <p:cNvPr id="35" name="Text 23"/>
          <p:cNvSpPr/>
          <p:nvPr/>
        </p:nvSpPr>
        <p:spPr>
          <a:xfrm>
            <a:off x="6345936" y="8046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</a:t>
            </a:r>
            <a:endParaRPr lang="en-US" sz="1000" dirty="0"/>
          </a:p>
        </p:txBody>
      </p:sp>
      <p:sp>
        <p:nvSpPr>
          <p:cNvPr id="36" name="Text 24"/>
          <p:cNvSpPr/>
          <p:nvPr/>
        </p:nvSpPr>
        <p:spPr>
          <a:xfrm>
            <a:off x="6318504" y="1115568"/>
            <a:ext cx="2523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서비스 확장</a:t>
            </a:r>
            <a:endParaRPr lang="en-US" sz="1700" dirty="0"/>
          </a:p>
        </p:txBody>
      </p:sp>
      <p:pic>
        <p:nvPicPr>
          <p:cNvPr id="37" name="Image 1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936" y="1901952"/>
            <a:ext cx="256032" cy="256032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6684264" y="188366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/>
              <a:t>‘AI </a:t>
            </a:r>
            <a:r>
              <a:rPr lang="ko-KR" altLang="en-US" sz="1200" dirty="0"/>
              <a:t>허브</a:t>
            </a:r>
            <a:r>
              <a:rPr lang="en-US" altLang="ko-KR" sz="1200" dirty="0"/>
              <a:t>’ </a:t>
            </a:r>
            <a:r>
              <a:rPr lang="ko-KR" altLang="en-US" sz="1200" dirty="0"/>
              <a:t>안부 서비스</a:t>
            </a:r>
            <a:endParaRPr lang="en-US" sz="1200" dirty="0"/>
          </a:p>
        </p:txBody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936" y="2377440"/>
            <a:ext cx="256032" cy="256032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6684264" y="235915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병원·요양기관 연동</a:t>
            </a:r>
            <a:endParaRPr lang="en-US" sz="1200" dirty="0"/>
          </a:p>
        </p:txBody>
      </p:sp>
      <p:pic>
        <p:nvPicPr>
          <p:cNvPr id="41" name="Image 1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936" y="2852928"/>
            <a:ext cx="256032" cy="256032"/>
          </a:xfrm>
          <a:prstGeom prst="rect">
            <a:avLst/>
          </a:prstGeom>
        </p:spPr>
      </p:pic>
      <p:sp>
        <p:nvSpPr>
          <p:cNvPr id="42" name="Text 27"/>
          <p:cNvSpPr/>
          <p:nvPr/>
        </p:nvSpPr>
        <p:spPr>
          <a:xfrm>
            <a:off x="6684264" y="28346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방문 케어 매칭</a:t>
            </a:r>
            <a:endParaRPr lang="en-US" sz="1200" dirty="0"/>
          </a:p>
        </p:txBody>
      </p:sp>
      <p:pic>
        <p:nvPicPr>
          <p:cNvPr id="43" name="Image 1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936" y="3328416"/>
            <a:ext cx="256032" cy="256032"/>
          </a:xfrm>
          <a:prstGeom prst="rect">
            <a:avLst/>
          </a:prstGeom>
        </p:spPr>
      </p:pic>
      <p:sp>
        <p:nvSpPr>
          <p:cNvPr id="44" name="Text 28"/>
          <p:cNvSpPr/>
          <p:nvPr/>
        </p:nvSpPr>
        <p:spPr>
          <a:xfrm>
            <a:off x="6684264" y="33101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지자체·보험사 협력</a:t>
            </a:r>
            <a:endParaRPr lang="en-US" sz="1200" dirty="0"/>
          </a:p>
        </p:txBody>
      </p:sp>
      <p:sp>
        <p:nvSpPr>
          <p:cNvPr id="45" name="Shape 29"/>
          <p:cNvSpPr/>
          <p:nvPr/>
        </p:nvSpPr>
        <p:spPr>
          <a:xfrm>
            <a:off x="3063240" y="1234440"/>
            <a:ext cx="201168" cy="274320"/>
          </a:xfrm>
          <a:prstGeom prst="rect">
            <a:avLst/>
          </a:prstGeom>
          <a:solidFill>
            <a:srgbClr val="FCBC8F"/>
          </a:solidFill>
          <a:ln/>
        </p:spPr>
      </p:sp>
      <p:sp>
        <p:nvSpPr>
          <p:cNvPr id="46" name="Shape 30"/>
          <p:cNvSpPr/>
          <p:nvPr/>
        </p:nvSpPr>
        <p:spPr>
          <a:xfrm>
            <a:off x="6007608" y="1234440"/>
            <a:ext cx="201168" cy="274320"/>
          </a:xfrm>
          <a:prstGeom prst="rect">
            <a:avLst/>
          </a:prstGeom>
          <a:solidFill>
            <a:srgbClr val="FCBC8F"/>
          </a:solidFill>
          <a:ln/>
        </p:spPr>
      </p:sp>
    </p:spTree>
  </p:cSld>
  <p:clrMapOvr>
    <a:masterClrMapping/>
  </p:clrMapOvr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6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b9dabb"/>
          </a:solidFill>
          <a:ln/>
        </p:spPr>
        <p:txBody>
          <a:bodyPr/>
          <a:lstStyle/>
          <a:p>
            <a:pPr lvl="0" latinLnBrk="1">
              <a:defRPr/>
            </a:pPr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en-US" sz="2200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5. 시장분석</a:t>
            </a:r>
            <a:endParaRPr lang="en-US" sz="220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en-US" sz="1400" b="1">
                <a:solidFill>
                  <a:srgbClr val="1a3a5c"/>
                </a:solidFill>
                <a:latin typeface="Arial"/>
                <a:ea typeface="Arial"/>
                <a:cs typeface="Arial"/>
              </a:rPr>
              <a:t>경쟁 서비스 비교</a:t>
            </a:r>
            <a:endParaRPr lang="en-US" sz="140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368300" y="1170432"/>
          <a:ext cx="4112260" cy="2633472"/>
        </p:xfrm>
        <a:graphic>
          <a:graphicData uri="http://schemas.openxmlformats.org/drawingml/2006/table">
            <a:tbl>
              <a:tblGrid>
                <a:gridCol w="1369060"/>
                <a:gridCol w="2743200"/>
              </a:tblGrid>
              <a:tr h="438912">
                <a:tc>
                  <a:txBody>
                    <a:bodyPr vert="horz" lIns="91440" tIns="45720" rIns="91440" bIns="45720" anchor="t" anchorCtr="0"/>
                    <a:p>
                      <a:pPr marL="0" indent="0" algn="ctr">
                        <a:lnSpc>
                          <a:spcPct val="150000"/>
                        </a:lnSpc>
                        <a:buNone/>
                        <a:defRPr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서비스</a:t>
                      </a:r>
                      <a:endParaRPr lang="en-US" sz="11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45a879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marL="0" indent="0" algn="ctr">
                        <a:lnSpc>
                          <a:spcPct val="150000"/>
                        </a:lnSpc>
                        <a:buNone/>
                        <a:defRPr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주요 내용</a:t>
                      </a:r>
                      <a:endParaRPr lang="en-US" sz="11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45a879"/>
                    </a:solidFill>
                  </a:tcPr>
                </a:tc>
              </a:tr>
              <a:tr h="438912">
                <a:tc>
                  <a:txBody>
                    <a:bodyPr vert="horz" lIns="91440" tIns="45720" rIns="91440" bIns="45720" anchor="t" anchorCtr="0"/>
                    <a:p>
                      <a:pPr marL="0" indent="0">
                        <a:buNone/>
                        <a:defRPr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시니어잇</a:t>
                      </a:r>
                      <a:endParaRPr lang="en-US" sz="11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marL="0" indent="0">
                        <a:buNone/>
                        <a:defRPr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산책, 말벗, 병원 동행, 가정 방문돌봄</a:t>
                      </a:r>
                      <a:endParaRPr lang="en-US" sz="11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vert="horz" lIns="91440" tIns="45720" rIns="91440" bIns="45720" anchor="t" anchorCtr="0"/>
                    <a:p>
                      <a:pPr marL="0" indent="0">
                        <a:buNone/>
                        <a:defRPr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청연</a:t>
                      </a:r>
                      <a:endParaRPr lang="en-US" sz="11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marL="0" indent="0">
                        <a:buNone/>
                        <a:defRPr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식사 차림, 생활 보조, 말벗, 동행</a:t>
                      </a:r>
                      <a:endParaRPr lang="en-US" sz="11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vert="horz" lIns="91440" tIns="45720" rIns="91440" bIns="45720" anchor="t" anchorCtr="0"/>
                    <a:p>
                      <a:pPr marL="0" indent="0">
                        <a:buNone/>
                        <a:defRPr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케어닥</a:t>
                      </a:r>
                      <a:endParaRPr lang="en-US" sz="11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marL="0" indent="0">
                        <a:buNone/>
                        <a:defRPr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간병인 매칭, 방문요양, 병원 동행</a:t>
                      </a:r>
                      <a:endParaRPr lang="en-US" sz="11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vert="horz" lIns="91440" tIns="45720" rIns="91440" bIns="45720" anchor="t" anchorCtr="0"/>
                    <a:p>
                      <a:pPr marL="0" indent="0">
                        <a:buNone/>
                        <a:defRPr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장기요양</a:t>
                      </a:r>
                      <a:endParaRPr lang="en-US" sz="11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marL="0" indent="0">
                        <a:buNone/>
                        <a:defRPr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방문 일정, 급여 내용, 서비스 기록</a:t>
                      </a:r>
                      <a:endParaRPr lang="en-US" sz="11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vert="horz" lIns="91440" tIns="45720" rIns="91440" bIns="45720" anchor="t" anchorCtr="0"/>
                    <a:p>
                      <a:pPr marL="0" indent="0">
                        <a:buNone/>
                        <a:defRPr/>
                      </a:pPr>
                      <a:r>
                        <a:rPr lang="en-US" sz="1100" b="1">
                          <a:solidFill>
                            <a:srgbClr val="0f8a7e"/>
                          </a:solidFill>
                          <a:latin typeface="Arial"/>
                          <a:ea typeface="Arial"/>
                          <a:cs typeface="Arial"/>
                        </a:rPr>
                        <a:t>HUB FAMILY</a:t>
                      </a:r>
                      <a:endParaRPr lang="en-US" sz="11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marL="0" indent="0">
                        <a:buNone/>
                        <a:defRPr/>
                      </a:pPr>
                      <a:r>
                        <a:rPr lang="en-US" sz="1100" b="1">
                          <a:solidFill>
                            <a:srgbClr val="0f8a7e"/>
                          </a:solidFill>
                          <a:latin typeface="Arial"/>
                          <a:ea typeface="Arial"/>
                          <a:cs typeface="Arial"/>
                        </a:rPr>
                        <a:t>비대면 안심 케어 + AI 패턴 감지</a:t>
                      </a:r>
                      <a:endParaRPr lang="en-US" sz="11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Shape 20"/>
          <p:cNvSpPr/>
          <p:nvPr/>
        </p:nvSpPr>
        <p:spPr>
          <a:xfrm>
            <a:off x="365760" y="4297680"/>
            <a:ext cx="8412480" cy="658368"/>
          </a:xfrm>
          <a:prstGeom prst="rect">
            <a:avLst/>
          </a:prstGeom>
          <a:solidFill>
            <a:srgbClr val="b9dabb"/>
          </a:solidFill>
          <a:ln/>
        </p:spPr>
        <p:txBody>
          <a:bodyPr anchor="ctr"/>
          <a:p>
            <a:pPr algn="ctr" latinLnBrk="1">
              <a:defRPr/>
            </a:pPr>
            <a:endParaRPr lang="ko-KR" altLang="en-US"/>
          </a:p>
        </p:txBody>
      </p:sp>
      <p:sp>
        <p:nvSpPr>
          <p:cNvPr id="28" name="Text 21"/>
          <p:cNvSpPr/>
          <p:nvPr/>
        </p:nvSpPr>
        <p:spPr>
          <a:xfrm>
            <a:off x="548640" y="429768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HUB FAMILY는 방문 돌봄 이전 단계의 비대면 안심 케어 서비스 — 기존 경쟁자와 시장이 다릅니다</a:t>
            </a:r>
            <a:endParaRPr lang="en-US" sz="1300"/>
          </a:p>
        </p:txBody>
      </p:sp>
      <p:pic>
        <p:nvPicPr>
          <p:cNvPr id="52" name="그림 5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319233" y="836168"/>
            <a:ext cx="3276127" cy="3302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B9DAB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6. </a:t>
            </a:r>
            <a:r>
              <a:rPr lang="en-US" sz="22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차별화</a:t>
            </a: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요소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754880" y="74980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차별화 요소</a:t>
            </a:r>
            <a:endParaRPr lang="en-US" sz="1400" dirty="0"/>
          </a:p>
        </p:txBody>
      </p:sp>
      <p:sp>
        <p:nvSpPr>
          <p:cNvPr id="5" name="Shape 4"/>
          <p:cNvSpPr/>
          <p:nvPr/>
        </p:nvSpPr>
        <p:spPr>
          <a:xfrm>
            <a:off x="4754880" y="1170432"/>
            <a:ext cx="2057400" cy="1371600"/>
          </a:xfrm>
          <a:prstGeom prst="rect">
            <a:avLst/>
          </a:prstGeom>
          <a:solidFill>
            <a:srgbClr val="E8F7F5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864608" y="1280160"/>
            <a:ext cx="475488" cy="475488"/>
          </a:xfrm>
          <a:prstGeom prst="ellipse">
            <a:avLst/>
          </a:prstGeom>
          <a:solidFill>
            <a:srgbClr val="0F8A7E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3752" y="1289304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864608" y="18288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자녀의 정서적 안정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864608" y="215798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생활 패턴·리포트로 연락 두절 불안 해소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967728" y="1170432"/>
            <a:ext cx="20574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077456" y="1280160"/>
            <a:ext cx="475488" cy="475488"/>
          </a:xfrm>
          <a:prstGeom prst="ellipse">
            <a:avLst/>
          </a:prstGeom>
          <a:solidFill>
            <a:srgbClr val="0F8A7E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1289304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077456" y="18288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부모의 사생활 보호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7077456" y="215798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CCTV 없이 필요한 생활 정보만 제공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4754880" y="2679192"/>
            <a:ext cx="2057400" cy="1371600"/>
          </a:xfrm>
          <a:prstGeom prst="rect">
            <a:avLst/>
          </a:prstGeom>
          <a:solidFill>
            <a:srgbClr val="E8F7F5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4864608" y="2788920"/>
            <a:ext cx="475488" cy="475488"/>
          </a:xfrm>
          <a:prstGeom prst="ellipse">
            <a:avLst/>
          </a:prstGeom>
          <a:solidFill>
            <a:srgbClr val="0F8A7E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3752" y="2798064"/>
            <a:ext cx="457200" cy="4572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864608" y="33375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고령자 친화 UX/UI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4864608" y="366674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큰 글씨, 버튼형 UI, 음성 안내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6967728" y="2679192"/>
            <a:ext cx="20574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7077456" y="2788920"/>
            <a:ext cx="475488" cy="475488"/>
          </a:xfrm>
          <a:prstGeom prst="ellipse">
            <a:avLst/>
          </a:prstGeom>
          <a:solidFill>
            <a:srgbClr val="0F8A7E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600" y="2798064"/>
            <a:ext cx="457200" cy="45720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077456" y="33375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비감시형 돌봄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7077456" y="366674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감시</a:t>
            </a: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 아닌 </a:t>
            </a:r>
            <a:r>
              <a:rPr lang="en-US" sz="1000" dirty="0" err="1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안심</a:t>
            </a: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r>
              <a:rPr lang="ko-KR" alt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</a:t>
            </a: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중심</a:t>
            </a: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000" dirty="0" err="1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서비스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365760" y="4297680"/>
            <a:ext cx="8412480" cy="658368"/>
          </a:xfrm>
          <a:prstGeom prst="rect">
            <a:avLst/>
          </a:prstGeom>
          <a:solidFill>
            <a:srgbClr val="B9DABB"/>
          </a:solidFill>
          <a:ln/>
        </p:spPr>
      </p:sp>
      <p:sp>
        <p:nvSpPr>
          <p:cNvPr id="28" name="Text 21"/>
          <p:cNvSpPr/>
          <p:nvPr/>
        </p:nvSpPr>
        <p:spPr>
          <a:xfrm>
            <a:off x="548640" y="429768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 FAMILY는 방문 돌봄 이전 단계의 비대면 안심 케어 서비스 — 기존 경쟁자와 시장이 다릅니다</a:t>
            </a:r>
            <a:endParaRPr lang="en-US" sz="1300" dirty="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CD4A8C8D-4F7F-42E4-B381-2EF93C9458B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9196" y="804734"/>
            <a:ext cx="3310128" cy="3369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6981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B9DAB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7. SWOT 전략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42062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77240"/>
            <a:ext cx="1371600" cy="457200"/>
          </a:xfrm>
          <a:prstGeom prst="rect">
            <a:avLst/>
          </a:prstGeom>
          <a:solidFill>
            <a:srgbClr val="B9DABB"/>
          </a:solidFill>
          <a:ln/>
        </p:spPr>
      </p:sp>
      <p:sp>
        <p:nvSpPr>
          <p:cNvPr id="6" name="Text 4"/>
          <p:cNvSpPr/>
          <p:nvPr/>
        </p:nvSpPr>
        <p:spPr>
          <a:xfrm>
            <a:off x="393192" y="8229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 전략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84632" y="132588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고령화로 증가하는 시니어 건강관리 수요를 </a:t>
            </a:r>
            <a:r>
              <a:rPr lang="en-US" sz="120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강점으로</a:t>
            </a: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20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활용해</a:t>
            </a: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가족 안심 케어 수요를 기회로 </a:t>
            </a:r>
            <a:r>
              <a:rPr lang="en-US" sz="120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연결</a:t>
            </a: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비대면 가족 케어 플랫폼으로 성장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92040" y="777240"/>
            <a:ext cx="42062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92040" y="777240"/>
            <a:ext cx="1371600" cy="4572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</p:sp>
      <p:sp>
        <p:nvSpPr>
          <p:cNvPr id="10" name="Text 8"/>
          <p:cNvSpPr/>
          <p:nvPr/>
        </p:nvSpPr>
        <p:spPr>
          <a:xfrm>
            <a:off x="4965192" y="8229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 전략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56632" y="132588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CCTV 없이 생활 패턴만 공유하는 비감시형 돌봄 시스템으로 사생활 침해 우려와 서비스 불신에 대응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2788920"/>
            <a:ext cx="42062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788920"/>
            <a:ext cx="1371600" cy="4572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/>
        </p:spPr>
      </p:sp>
      <p:sp>
        <p:nvSpPr>
          <p:cNvPr id="14" name="Text 12"/>
          <p:cNvSpPr/>
          <p:nvPr/>
        </p:nvSpPr>
        <p:spPr>
          <a:xfrm>
            <a:off x="393192" y="28346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 전략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" y="333756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큰 글씨, 단순한 버튼형 UI, 음성 안내, 자동 </a:t>
            </a:r>
            <a:r>
              <a:rPr lang="en-US" sz="120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알림으로</a:t>
            </a: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20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고령층의</a:t>
            </a: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디지털 사용 </a:t>
            </a:r>
            <a:r>
              <a:rPr lang="en-US" sz="120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어려움을</a:t>
            </a: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ko-KR" alt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보완</a:t>
            </a:r>
            <a:r>
              <a:rPr lang="en-US" altLang="ko-KR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</a:t>
            </a:r>
            <a:r>
              <a:rPr lang="ko-KR" alt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방문 교육</a:t>
            </a:r>
            <a:r>
              <a:rPr lang="en-US" altLang="ko-KR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</a:p>
        </p:txBody>
      </p:sp>
      <p:sp>
        <p:nvSpPr>
          <p:cNvPr id="16" name="Shape 14"/>
          <p:cNvSpPr/>
          <p:nvPr/>
        </p:nvSpPr>
        <p:spPr>
          <a:xfrm>
            <a:off x="4892040" y="2788920"/>
            <a:ext cx="42062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92040" y="2788920"/>
            <a:ext cx="1371600" cy="457200"/>
          </a:xfrm>
          <a:prstGeom prst="rect">
            <a:avLst/>
          </a:prstGeom>
          <a:solidFill>
            <a:schemeClr val="accent2">
              <a:lumMod val="75000"/>
            </a:schemeClr>
          </a:solidFill>
          <a:ln/>
        </p:spPr>
      </p:sp>
      <p:sp>
        <p:nvSpPr>
          <p:cNvPr id="18" name="Text 16"/>
          <p:cNvSpPr/>
          <p:nvPr/>
        </p:nvSpPr>
        <p:spPr>
          <a:xfrm>
            <a:off x="4965192" y="28346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WT 전략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56632" y="333756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 누락, 휴대폰 방전, 앱 오류에 대비해 참고용 </a:t>
            </a:r>
            <a:r>
              <a:rPr lang="en-US" sz="120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정보</a:t>
            </a: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20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안내와</a:t>
            </a: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미응답 보호자 알림 기능 제공</a:t>
            </a:r>
            <a:endParaRPr lang="en-US" sz="1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211B273-9C08-12FE-8F21-582322883218}"/>
              </a:ext>
            </a:extLst>
          </p:cNvPr>
          <p:cNvSpPr txBox="1"/>
          <p:nvPr/>
        </p:nvSpPr>
        <p:spPr>
          <a:xfrm>
            <a:off x="1743891" y="865108"/>
            <a:ext cx="27458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accent6">
                    <a:lumMod val="50000"/>
                  </a:schemeClr>
                </a:solidFill>
              </a:rPr>
              <a:t>내부강점의 기회 활용 방안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630915B-053C-E800-82CD-6D5F33BA775C}"/>
              </a:ext>
            </a:extLst>
          </p:cNvPr>
          <p:cNvSpPr txBox="1"/>
          <p:nvPr/>
        </p:nvSpPr>
        <p:spPr>
          <a:xfrm>
            <a:off x="6318504" y="818495"/>
            <a:ext cx="27458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accent6">
                    <a:lumMod val="50000"/>
                  </a:schemeClr>
                </a:solidFill>
              </a:rPr>
              <a:t>내부 강점을 이용하여 외부 위협에 대처하는 방안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CAA7129-31CF-96DA-EBE1-AA1DC6316DA8}"/>
              </a:ext>
            </a:extLst>
          </p:cNvPr>
          <p:cNvSpPr txBox="1"/>
          <p:nvPr/>
        </p:nvSpPr>
        <p:spPr>
          <a:xfrm>
            <a:off x="1682496" y="2834640"/>
            <a:ext cx="27458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accent6">
                    <a:lumMod val="50000"/>
                  </a:schemeClr>
                </a:solidFill>
              </a:rPr>
              <a:t>기회를 최대화하여 약점을 최소화하는 방안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866FBE2-375B-DE2B-6D76-C8B1BF780EA3}"/>
              </a:ext>
            </a:extLst>
          </p:cNvPr>
          <p:cNvSpPr txBox="1"/>
          <p:nvPr/>
        </p:nvSpPr>
        <p:spPr>
          <a:xfrm>
            <a:off x="6245352" y="2834640"/>
            <a:ext cx="27458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accent6">
                    <a:lumMod val="50000"/>
                  </a:schemeClr>
                </a:solidFill>
              </a:rPr>
              <a:t>약점과 위협 모두를 최소화 할 수 있는 방안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B9DAB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7. SWOT 전략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42062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77240"/>
            <a:ext cx="1371600" cy="457200"/>
          </a:xfrm>
          <a:prstGeom prst="rect">
            <a:avLst/>
          </a:prstGeom>
          <a:solidFill>
            <a:srgbClr val="B9DABB"/>
          </a:solidFill>
          <a:ln/>
        </p:spPr>
      </p:sp>
      <p:sp>
        <p:nvSpPr>
          <p:cNvPr id="6" name="Text 4"/>
          <p:cNvSpPr/>
          <p:nvPr/>
        </p:nvSpPr>
        <p:spPr>
          <a:xfrm>
            <a:off x="393192" y="8229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 전략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84632" y="132588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고령화로 증가하는 시니어 건강관리 수요를 강점으로 활용해 가족 안심 케어 수요를 기회로 연결 → 비대면 가족 케어 플랫폼으로 성장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92040" y="777240"/>
            <a:ext cx="42062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92040" y="777240"/>
            <a:ext cx="1371600" cy="4572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</p:sp>
      <p:sp>
        <p:nvSpPr>
          <p:cNvPr id="10" name="Text 8"/>
          <p:cNvSpPr/>
          <p:nvPr/>
        </p:nvSpPr>
        <p:spPr>
          <a:xfrm>
            <a:off x="4965192" y="8229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 전략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56632" y="132588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CCTV 없이 생활 패턴만 공유하는 비감시형 돌봄 시스템으로 사생활 침해 우려와 서비스 불신에 대응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2788920"/>
            <a:ext cx="42062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788920"/>
            <a:ext cx="1371600" cy="4572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/>
        </p:spPr>
      </p:sp>
      <p:sp>
        <p:nvSpPr>
          <p:cNvPr id="14" name="Text 12"/>
          <p:cNvSpPr/>
          <p:nvPr/>
        </p:nvSpPr>
        <p:spPr>
          <a:xfrm>
            <a:off x="393192" y="28346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 전략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" y="333756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큰 글씨, 단순한 버튼형 UI, 음성 안내, 자동 알림으로 고령층의 디지털 사용 </a:t>
            </a:r>
            <a:r>
              <a:rPr lang="en-US" sz="120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어려움을</a:t>
            </a: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ko-KR" alt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보완</a:t>
            </a:r>
            <a:r>
              <a:rPr lang="en-US" altLang="ko-KR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</a:t>
            </a:r>
            <a:r>
              <a:rPr lang="ko-KR" alt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방문 교육</a:t>
            </a:r>
            <a:r>
              <a:rPr lang="en-US" altLang="ko-KR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</a:p>
        </p:txBody>
      </p:sp>
      <p:sp>
        <p:nvSpPr>
          <p:cNvPr id="16" name="Shape 14"/>
          <p:cNvSpPr/>
          <p:nvPr/>
        </p:nvSpPr>
        <p:spPr>
          <a:xfrm>
            <a:off x="4892040" y="2788920"/>
            <a:ext cx="42062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92040" y="2788920"/>
            <a:ext cx="1371600" cy="457200"/>
          </a:xfrm>
          <a:prstGeom prst="rect">
            <a:avLst/>
          </a:prstGeom>
          <a:solidFill>
            <a:schemeClr val="accent2">
              <a:lumMod val="75000"/>
            </a:schemeClr>
          </a:solidFill>
          <a:ln/>
        </p:spPr>
      </p:sp>
      <p:sp>
        <p:nvSpPr>
          <p:cNvPr id="18" name="Text 16"/>
          <p:cNvSpPr/>
          <p:nvPr/>
        </p:nvSpPr>
        <p:spPr>
          <a:xfrm>
            <a:off x="4965192" y="28346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WT 전략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56632" y="333756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 누락, 휴대폰 방전, 앱 오류에 대비해 참고용 정보 안내와 미응답 보호자 알림 기능 제공</a:t>
            </a:r>
            <a:endParaRPr lang="en-US" sz="1200" dirty="0"/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FC4C7252-D7B1-4FE3-808E-9AC8985B12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7626" y="-3810"/>
            <a:ext cx="9255125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8150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B9DAB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8. </a:t>
            </a:r>
            <a:r>
              <a:rPr lang="en-US" sz="22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소요</a:t>
            </a: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자금 및 조달계획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소요 자금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3931920" cy="685800"/>
          </a:xfrm>
          <a:prstGeom prst="rect">
            <a:avLst/>
          </a:prstGeom>
          <a:solidFill>
            <a:srgbClr val="E8F7F5"/>
          </a:solidFill>
          <a:ln/>
        </p:spPr>
      </p:sp>
      <p:sp>
        <p:nvSpPr>
          <p:cNvPr id="6" name="Shape 4"/>
          <p:cNvSpPr/>
          <p:nvPr/>
        </p:nvSpPr>
        <p:spPr>
          <a:xfrm>
            <a:off x="475488" y="1261872"/>
            <a:ext cx="457200" cy="457200"/>
          </a:xfrm>
          <a:prstGeom prst="ellipse">
            <a:avLst/>
          </a:prstGeom>
          <a:solidFill>
            <a:srgbClr val="0F8A7E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1271016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24358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앱 개발비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51560" y="1554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앱 개발, 식사·복약·기분 체크 기능 구현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65760" y="1975104"/>
            <a:ext cx="393192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475488" y="2066544"/>
            <a:ext cx="457200" cy="457200"/>
          </a:xfrm>
          <a:prstGeom prst="ellipse">
            <a:avLst/>
          </a:prstGeom>
          <a:solidFill>
            <a:srgbClr val="0F8A7E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" y="2075688"/>
            <a:ext cx="438912" cy="4389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51560" y="204825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UX/UI 디자인비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051560" y="23591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고령자 친화형 큰 글씨, 버튼형 화면, 음성 안내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365760" y="2779776"/>
            <a:ext cx="3931920" cy="685800"/>
          </a:xfrm>
          <a:prstGeom prst="rect">
            <a:avLst/>
          </a:prstGeom>
          <a:solidFill>
            <a:srgbClr val="E8F7F5"/>
          </a:solidFill>
          <a:ln/>
        </p:spPr>
      </p:sp>
      <p:sp>
        <p:nvSpPr>
          <p:cNvPr id="16" name="Shape 12"/>
          <p:cNvSpPr/>
          <p:nvPr/>
        </p:nvSpPr>
        <p:spPr>
          <a:xfrm>
            <a:off x="475488" y="2871216"/>
            <a:ext cx="457200" cy="457200"/>
          </a:xfrm>
          <a:prstGeom prst="ellipse">
            <a:avLst/>
          </a:prstGeom>
          <a:solidFill>
            <a:srgbClr val="0F8A7E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" y="2880360"/>
            <a:ext cx="438912" cy="4389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51560" y="28529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서버·데이터 관리비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051560" y="316382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정보, 생활 패턴, 리포트 데이터 저장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365760" y="3584448"/>
            <a:ext cx="393192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6"/>
          <p:cNvSpPr/>
          <p:nvPr/>
        </p:nvSpPr>
        <p:spPr>
          <a:xfrm>
            <a:off x="475488" y="3675888"/>
            <a:ext cx="457200" cy="457200"/>
          </a:xfrm>
          <a:prstGeom prst="ellipse">
            <a:avLst/>
          </a:prstGeom>
          <a:solidFill>
            <a:srgbClr val="0F8A7E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" y="3685032"/>
            <a:ext cx="438912" cy="43891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51560" y="36576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기능 개발비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1051560" y="396849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안부 전화, 이상 징후 감지, 자동 리포트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663440" y="74980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조달계획</a:t>
            </a:r>
            <a:endParaRPr lang="en-US" sz="1400" dirty="0"/>
          </a:p>
        </p:txBody>
      </p:sp>
      <p:sp>
        <p:nvSpPr>
          <p:cNvPr id="26" name="Shape 20"/>
          <p:cNvSpPr/>
          <p:nvPr/>
        </p:nvSpPr>
        <p:spPr>
          <a:xfrm>
            <a:off x="4663440" y="1170432"/>
            <a:ext cx="411480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663440" y="1170432"/>
            <a:ext cx="164592" cy="457200"/>
          </a:xfrm>
          <a:prstGeom prst="rect">
            <a:avLst/>
          </a:prstGeom>
          <a:solidFill>
            <a:srgbClr val="0F8A7E"/>
          </a:solidFill>
          <a:ln/>
        </p:spPr>
      </p:sp>
      <p:sp>
        <p:nvSpPr>
          <p:cNvPr id="28" name="Text 22"/>
          <p:cNvSpPr/>
          <p:nvPr/>
        </p:nvSpPr>
        <p:spPr>
          <a:xfrm>
            <a:off x="4919472" y="1207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초기창업패키지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7178040" y="120700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0F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최대 1억 원</a:t>
            </a:r>
            <a:endParaRPr lang="en-US" sz="1150" dirty="0"/>
          </a:p>
        </p:txBody>
      </p:sp>
      <p:sp>
        <p:nvSpPr>
          <p:cNvPr id="30" name="Shape 24"/>
          <p:cNvSpPr/>
          <p:nvPr/>
        </p:nvSpPr>
        <p:spPr>
          <a:xfrm>
            <a:off x="4663440" y="1700784"/>
            <a:ext cx="411480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4663440" y="1700784"/>
            <a:ext cx="164592" cy="4572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2" name="Text 26"/>
          <p:cNvSpPr/>
          <p:nvPr/>
        </p:nvSpPr>
        <p:spPr>
          <a:xfrm>
            <a:off x="4919472" y="17373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창업기반지원자금</a:t>
            </a:r>
            <a:endParaRPr lang="en-US" sz="1150" dirty="0"/>
          </a:p>
        </p:txBody>
      </p:sp>
      <p:sp>
        <p:nvSpPr>
          <p:cNvPr id="33" name="Text 27"/>
          <p:cNvSpPr/>
          <p:nvPr/>
        </p:nvSpPr>
        <p:spPr>
          <a:xfrm>
            <a:off x="7178040" y="173736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최대 1억 원</a:t>
            </a:r>
            <a:endParaRPr lang="en-US" sz="1150" dirty="0"/>
          </a:p>
        </p:txBody>
      </p:sp>
      <p:sp>
        <p:nvSpPr>
          <p:cNvPr id="34" name="Shape 28"/>
          <p:cNvSpPr/>
          <p:nvPr/>
        </p:nvSpPr>
        <p:spPr>
          <a:xfrm>
            <a:off x="4663440" y="2231136"/>
            <a:ext cx="411480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4663440" y="2231136"/>
            <a:ext cx="164592" cy="457200"/>
          </a:xfrm>
          <a:prstGeom prst="rect">
            <a:avLst/>
          </a:prstGeom>
          <a:solidFill>
            <a:srgbClr val="2E7D5E"/>
          </a:solidFill>
          <a:ln/>
        </p:spPr>
      </p:sp>
      <p:sp>
        <p:nvSpPr>
          <p:cNvPr id="36" name="Text 30"/>
          <p:cNvSpPr/>
          <p:nvPr/>
        </p:nvSpPr>
        <p:spPr>
          <a:xfrm>
            <a:off x="4919472" y="22677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권역오디션</a:t>
            </a:r>
            <a:endParaRPr lang="en-US" sz="1150" dirty="0"/>
          </a:p>
        </p:txBody>
      </p:sp>
      <p:sp>
        <p:nvSpPr>
          <p:cNvPr id="37" name="Text 31"/>
          <p:cNvSpPr/>
          <p:nvPr/>
        </p:nvSpPr>
        <p:spPr>
          <a:xfrm>
            <a:off x="7178040" y="2267712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2E7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최대 1억 원</a:t>
            </a:r>
            <a:endParaRPr lang="en-US" sz="1150" dirty="0"/>
          </a:p>
        </p:txBody>
      </p:sp>
      <p:sp>
        <p:nvSpPr>
          <p:cNvPr id="46" name="Shape 40"/>
          <p:cNvSpPr/>
          <p:nvPr/>
        </p:nvSpPr>
        <p:spPr>
          <a:xfrm>
            <a:off x="4681728" y="2757477"/>
            <a:ext cx="411480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47" name="Shape 41"/>
          <p:cNvSpPr/>
          <p:nvPr/>
        </p:nvSpPr>
        <p:spPr>
          <a:xfrm>
            <a:off x="4679551" y="2763837"/>
            <a:ext cx="164592" cy="4572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/>
        </p:spPr>
      </p:sp>
      <p:sp>
        <p:nvSpPr>
          <p:cNvPr id="48" name="Text 42"/>
          <p:cNvSpPr/>
          <p:nvPr/>
        </p:nvSpPr>
        <p:spPr>
          <a:xfrm>
            <a:off x="4919472" y="281635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자체 수익</a:t>
            </a:r>
            <a:endParaRPr lang="en-US" sz="1150" dirty="0"/>
          </a:p>
        </p:txBody>
      </p:sp>
      <p:sp>
        <p:nvSpPr>
          <p:cNvPr id="49" name="Text 43"/>
          <p:cNvSpPr/>
          <p:nvPr/>
        </p:nvSpPr>
        <p:spPr>
          <a:xfrm>
            <a:off x="7200900" y="2816352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 9,900원 구독료</a:t>
            </a:r>
            <a:endParaRPr lang="en-US" sz="1150" dirty="0"/>
          </a:p>
        </p:txBody>
      </p:sp>
      <p:sp>
        <p:nvSpPr>
          <p:cNvPr id="50" name="Shape 44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1" name="Text 45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정부 지원금·정책자금으로 MVP를 개발하고, 이후 구독료와 제휴·연계 수수료로 장기 수익 확보</a:t>
            </a:r>
            <a:endParaRPr lang="en-US" sz="1100" dirty="0"/>
          </a:p>
        </p:txBody>
      </p:sp>
      <p:sp>
        <p:nvSpPr>
          <p:cNvPr id="52" name="Shape 28">
            <a:extLst>
              <a:ext uri="{FF2B5EF4-FFF2-40B4-BE49-F238E27FC236}">
                <a16:creationId xmlns:a16="http://schemas.microsoft.com/office/drawing/2014/main" id="{286EB62A-72A4-4D8E-872D-48200283641E}"/>
              </a:ext>
            </a:extLst>
          </p:cNvPr>
          <p:cNvSpPr/>
          <p:nvPr/>
        </p:nvSpPr>
        <p:spPr>
          <a:xfrm>
            <a:off x="4709160" y="3287829"/>
            <a:ext cx="4114800" cy="973851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Shape 29">
            <a:extLst>
              <a:ext uri="{FF2B5EF4-FFF2-40B4-BE49-F238E27FC236}">
                <a16:creationId xmlns:a16="http://schemas.microsoft.com/office/drawing/2014/main" id="{A28EC10B-61DE-4119-A48B-96DA02F28FF8}"/>
              </a:ext>
            </a:extLst>
          </p:cNvPr>
          <p:cNvSpPr/>
          <p:nvPr/>
        </p:nvSpPr>
        <p:spPr>
          <a:xfrm>
            <a:off x="4681728" y="3298706"/>
            <a:ext cx="162416" cy="957073"/>
          </a:xfrm>
          <a:prstGeom prst="rect">
            <a:avLst/>
          </a:prstGeom>
          <a:solidFill>
            <a:srgbClr val="2E7D5E"/>
          </a:solidFill>
          <a:ln/>
        </p:spPr>
      </p:sp>
      <p:sp>
        <p:nvSpPr>
          <p:cNvPr id="58" name="Text 42">
            <a:extLst>
              <a:ext uri="{FF2B5EF4-FFF2-40B4-BE49-F238E27FC236}">
                <a16:creationId xmlns:a16="http://schemas.microsoft.com/office/drawing/2014/main" id="{1DD5A707-AAAA-4E0B-8AB2-1027DF8CDEC9}"/>
              </a:ext>
            </a:extLst>
          </p:cNvPr>
          <p:cNvSpPr/>
          <p:nvPr/>
        </p:nvSpPr>
        <p:spPr>
          <a:xfrm>
            <a:off x="4905260" y="2895600"/>
            <a:ext cx="2194560" cy="1722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000" b="1" dirty="0">
                <a:solidFill>
                  <a:srgbClr val="1E293B"/>
                </a:solidFill>
                <a:latin typeface="Arial" pitchFamily="34" charset="0"/>
                <a:cs typeface="Arial" pitchFamily="34" charset="-120"/>
              </a:rPr>
              <a:t>상금 및 투자금 </a:t>
            </a:r>
            <a:endParaRPr lang="en-US" sz="2000" dirty="0"/>
          </a:p>
        </p:txBody>
      </p:sp>
      <p:sp>
        <p:nvSpPr>
          <p:cNvPr id="60" name="Text 42">
            <a:extLst>
              <a:ext uri="{FF2B5EF4-FFF2-40B4-BE49-F238E27FC236}">
                <a16:creationId xmlns:a16="http://schemas.microsoft.com/office/drawing/2014/main" id="{1DD5A707-AAAA-4E0B-8AB2-1027DF8CDEC9}"/>
              </a:ext>
            </a:extLst>
          </p:cNvPr>
          <p:cNvSpPr/>
          <p:nvPr/>
        </p:nvSpPr>
        <p:spPr>
          <a:xfrm>
            <a:off x="7562088" y="2883969"/>
            <a:ext cx="2194560" cy="1722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  <a:r>
              <a:rPr lang="ko-KR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억원🎉 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B9DAB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B9DABB">
              <a:alpha val="2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26797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HUB FAMILY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457200" y="3337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468E6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34" charset="0"/>
                <a:ea typeface="Georgia" pitchFamily="34" charset="-122"/>
                <a:cs typeface="Georgia" pitchFamily="34" charset="-120"/>
              </a:rPr>
              <a:t>기술로 연결하고, 마음으로 돌보는 가족 안심 케어 플랫폼</a:t>
            </a:r>
            <a:endParaRPr lang="en-US" sz="1500" b="1" dirty="0">
              <a:solidFill>
                <a:srgbClr val="468E6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Shape 3"/>
          <p:cNvSpPr/>
          <p:nvPr/>
        </p:nvSpPr>
        <p:spPr>
          <a:xfrm>
            <a:off x="2286000" y="3931920"/>
            <a:ext cx="4572000" cy="54864"/>
          </a:xfrm>
          <a:prstGeom prst="rect">
            <a:avLst/>
          </a:prstGeom>
          <a:solidFill>
            <a:srgbClr val="FCBC8F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413308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latin typeface="Arial" pitchFamily="34" charset="0"/>
                <a:ea typeface="Arial" pitchFamily="34" charset="-122"/>
                <a:cs typeface="Arial" pitchFamily="34" charset="-120"/>
              </a:rPr>
              <a:t>부모는 사생활을 지키고, 자녀는 안심할 수 있는 새로운 가족 돌봄 방식을 제안합니다</a:t>
            </a:r>
            <a:endParaRPr lang="en-US" sz="13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33EFEF86-DEAA-44BE-90D8-3BDB7E93A8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9737" y="633461"/>
            <a:ext cx="1951322" cy="196673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9DAB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406400" y="214267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3600" dirty="0">
                <a:solidFill>
                  <a:schemeClr val="bg1"/>
                </a:solidFill>
              </a:rPr>
              <a:t>ＴＨＡＮＫ　ＹＯＵ</a:t>
            </a:r>
            <a:endParaRPr lang="en-US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3596712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>PptxGenJS</ep:Company>
  <ep:Words>937</ep:Words>
  <ep:PresentationFormat>화면 슬라이드 쇼(16:9)</ep:PresentationFormat>
  <ep:Paragraphs>185</ep:Paragraphs>
  <ep:Slides>17</ep:Slides>
  <ep:Notes>15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ep:HeadingPairs>
  <ep:TitlesOfParts>
    <vt:vector size="18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2026-05-29T11:01:49.000</dcterms:created>
  <dc:creator>PptxGenJS</dc:creator>
  <cp:lastModifiedBy>SM-X930</cp:lastModifiedBy>
  <dcterms:modified xsi:type="dcterms:W3CDTF">2026-05-29T16:44:25.652</dcterms:modified>
  <cp:revision>18</cp:revision>
  <dc:subject>PptxGenJS Presentation</dc:subject>
  <dc:title>HUB FAMILY</dc:title>
  <cp:version/>
</cp:coreProperties>
</file>